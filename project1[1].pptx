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686"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charla prashanth" userId="fa22f5aee46b1393" providerId="LiveId" clId="{58F13511-BC52-4D0E-A3EE-F5378F26932F}"/>
    <pc:docChg chg="custSel addSld modSld">
      <pc:chgData name="mucharla prashanth" userId="fa22f5aee46b1393" providerId="LiveId" clId="{58F13511-BC52-4D0E-A3EE-F5378F26932F}" dt="2025-06-11T04:00:15.187" v="34" actId="20577"/>
      <pc:docMkLst>
        <pc:docMk/>
      </pc:docMkLst>
      <pc:sldChg chg="modSp mod">
        <pc:chgData name="mucharla prashanth" userId="fa22f5aee46b1393" providerId="LiveId" clId="{58F13511-BC52-4D0E-A3EE-F5378F26932F}" dt="2025-06-11T04:00:15.187" v="34" actId="20577"/>
        <pc:sldMkLst>
          <pc:docMk/>
          <pc:sldMk cId="561567843" sldId="271"/>
        </pc:sldMkLst>
        <pc:spChg chg="mod">
          <ac:chgData name="mucharla prashanth" userId="fa22f5aee46b1393" providerId="LiveId" clId="{58F13511-BC52-4D0E-A3EE-F5378F26932F}" dt="2025-06-11T04:00:15.187" v="34" actId="20577"/>
          <ac:spMkLst>
            <pc:docMk/>
            <pc:sldMk cId="561567843" sldId="271"/>
            <ac:spMk id="7" creationId="{3A9C9EA1-9B4F-8D11-59C7-1C391E40E314}"/>
          </ac:spMkLst>
        </pc:spChg>
      </pc:sldChg>
      <pc:sldChg chg="delSp modSp new mod">
        <pc:chgData name="mucharla prashanth" userId="fa22f5aee46b1393" providerId="LiveId" clId="{58F13511-BC52-4D0E-A3EE-F5378F26932F}" dt="2025-06-11T03:50:42.165" v="30" actId="207"/>
        <pc:sldMkLst>
          <pc:docMk/>
          <pc:sldMk cId="4249376977" sldId="279"/>
        </pc:sldMkLst>
        <pc:spChg chg="del">
          <ac:chgData name="mucharla prashanth" userId="fa22f5aee46b1393" providerId="LiveId" clId="{58F13511-BC52-4D0E-A3EE-F5378F26932F}" dt="2025-06-11T03:50:23.969" v="27" actId="478"/>
          <ac:spMkLst>
            <pc:docMk/>
            <pc:sldMk cId="4249376977" sldId="279"/>
            <ac:spMk id="2" creationId="{94043BA9-A61A-85CE-26D0-0040564ED1B2}"/>
          </ac:spMkLst>
        </pc:spChg>
        <pc:spChg chg="mod">
          <ac:chgData name="mucharla prashanth" userId="fa22f5aee46b1393" providerId="LiveId" clId="{58F13511-BC52-4D0E-A3EE-F5378F26932F}" dt="2025-06-11T03:50:42.165" v="30" actId="207"/>
          <ac:spMkLst>
            <pc:docMk/>
            <pc:sldMk cId="4249376977" sldId="279"/>
            <ac:spMk id="3" creationId="{D8D4A5E6-7194-642F-F5A1-55114CEB76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DE03F4-F9FF-4471-B467-D8D8B1D4C04B}" type="datetimeFigureOut">
              <a:rPr lang="en-US" smtClean="0"/>
              <a:pPr/>
              <a:t>6/11/2025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288D87F-F57E-421D-9EF7-75A90D0A5738}"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C1955-BD72-49D2-85B6-747CF64A8D8C}" type="datetimeFigureOut">
              <a:rPr lang="en-US" smtClean="0"/>
              <a:pPr/>
              <a:t>6/11/2025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5EE7EF-413C-44A5-97E4-5CDC67491981}" type="slidenum">
              <a:rPr lang="en-US" smtClean="0"/>
              <a:pPr/>
              <a:t>‹#›</a:t>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1</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2</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3</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4</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5</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6</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EE7EF-413C-44A5-97E4-5CDC67491981}" type="slidenum">
              <a:rPr lang="en-US" smtClean="0"/>
              <a:pPr/>
              <a:t>7</a:t>
            </a:fld>
            <a:endParaRPr lang="en-US"/>
          </a:p>
        </p:txBody>
      </p:sp>
      <p:sp>
        <p:nvSpPr>
          <p:cNvPr id="5" name="Header Placeholder 4"/>
          <p:cNvSpPr>
            <a:spLocks noGrp="1"/>
          </p:cNvSpPr>
          <p:nvPr>
            <p:ph type="hdr" sz="quarter" idx="1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7E4FB07-950D-46C9-B2EA-B4E5031908A7}" type="datetime1">
              <a:rPr lang="en-US" smtClean="0"/>
              <a:t>6/11/2025</a:t>
            </a:fld>
            <a:endParaRPr lang="en-US"/>
          </a:p>
        </p:txBody>
      </p:sp>
      <p:sp>
        <p:nvSpPr>
          <p:cNvPr id="5" name="Footer Placeholder 4"/>
          <p:cNvSpPr>
            <a:spLocks noGrp="1"/>
          </p:cNvSpPr>
          <p:nvPr>
            <p:ph type="ftr" sz="quarter" idx="11"/>
          </p:nvPr>
        </p:nvSpPr>
        <p:spPr/>
        <p:txBody>
          <a:bodyPr/>
          <a:lstStyle/>
          <a:p>
            <a:r>
              <a:rPr lang="en-US"/>
              <a:t>CSE(AI&amp;ML)-2024-25</a:t>
            </a:r>
          </a:p>
        </p:txBody>
      </p:sp>
      <p:sp>
        <p:nvSpPr>
          <p:cNvPr id="6" name="Slide Number Placeholder 5"/>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9AA0AE-DB77-4371-BA1A-A6035A40412F}" type="datetime1">
              <a:rPr lang="en-US" smtClean="0"/>
              <a:t>6/11/2025</a:t>
            </a:fld>
            <a:endParaRPr lang="en-US"/>
          </a:p>
        </p:txBody>
      </p:sp>
      <p:sp>
        <p:nvSpPr>
          <p:cNvPr id="5" name="Footer Placeholder 4"/>
          <p:cNvSpPr>
            <a:spLocks noGrp="1"/>
          </p:cNvSpPr>
          <p:nvPr>
            <p:ph type="ftr" sz="quarter" idx="11"/>
          </p:nvPr>
        </p:nvSpPr>
        <p:spPr/>
        <p:txBody>
          <a:bodyPr/>
          <a:lstStyle/>
          <a:p>
            <a:r>
              <a:rPr lang="en-US"/>
              <a:t>CSE(AI&amp;ML)-2024-25</a:t>
            </a:r>
          </a:p>
        </p:txBody>
      </p:sp>
      <p:sp>
        <p:nvSpPr>
          <p:cNvPr id="6" name="Slide Number Placeholder 5"/>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6E26E3-9E0E-43CA-8357-379B25FD6078}" type="datetime1">
              <a:rPr lang="en-US" smtClean="0"/>
              <a:t>6/11/2025</a:t>
            </a:fld>
            <a:endParaRPr lang="en-US"/>
          </a:p>
        </p:txBody>
      </p:sp>
      <p:sp>
        <p:nvSpPr>
          <p:cNvPr id="5" name="Footer Placeholder 4"/>
          <p:cNvSpPr>
            <a:spLocks noGrp="1"/>
          </p:cNvSpPr>
          <p:nvPr>
            <p:ph type="ftr" sz="quarter" idx="11"/>
          </p:nvPr>
        </p:nvSpPr>
        <p:spPr/>
        <p:txBody>
          <a:bodyPr/>
          <a:lstStyle/>
          <a:p>
            <a:r>
              <a:rPr lang="en-US"/>
              <a:t>CSE(AI&amp;ML)-2024-25</a:t>
            </a:r>
          </a:p>
        </p:txBody>
      </p:sp>
      <p:sp>
        <p:nvSpPr>
          <p:cNvPr id="6" name="Slide Number Placeholder 5"/>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0D2311-165C-4B78-A331-91908EA9929D}" type="datetime1">
              <a:rPr lang="en-US" smtClean="0"/>
              <a:t>6/11/2025</a:t>
            </a:fld>
            <a:endParaRPr lang="en-US"/>
          </a:p>
        </p:txBody>
      </p:sp>
      <p:sp>
        <p:nvSpPr>
          <p:cNvPr id="6" name="Footer Placeholder 5"/>
          <p:cNvSpPr>
            <a:spLocks noGrp="1"/>
          </p:cNvSpPr>
          <p:nvPr>
            <p:ph type="ftr" sz="quarter" idx="11"/>
          </p:nvPr>
        </p:nvSpPr>
        <p:spPr/>
        <p:txBody>
          <a:bodyPr/>
          <a:lstStyle/>
          <a:p>
            <a:r>
              <a:rPr lang="en-US"/>
              <a:t>CSE(AI&amp;ML)-2024-25</a:t>
            </a:r>
          </a:p>
        </p:txBody>
      </p:sp>
      <p:sp>
        <p:nvSpPr>
          <p:cNvPr id="7" name="Slide Number Placeholder 6"/>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4E64ADE-7D14-450D-9FD2-E32E63F9B316}" type="datetime1">
              <a:rPr lang="en-US" smtClean="0"/>
              <a:t>6/11/2025</a:t>
            </a:fld>
            <a:endParaRPr lang="en-US"/>
          </a:p>
        </p:txBody>
      </p:sp>
      <p:sp>
        <p:nvSpPr>
          <p:cNvPr id="8" name="Footer Placeholder 7"/>
          <p:cNvSpPr>
            <a:spLocks noGrp="1"/>
          </p:cNvSpPr>
          <p:nvPr>
            <p:ph type="ftr" sz="quarter" idx="11"/>
          </p:nvPr>
        </p:nvSpPr>
        <p:spPr/>
        <p:txBody>
          <a:bodyPr/>
          <a:lstStyle/>
          <a:p>
            <a:r>
              <a:rPr lang="en-US"/>
              <a:t>CSE(AI&amp;ML)-2024-25</a:t>
            </a:r>
          </a:p>
        </p:txBody>
      </p:sp>
      <p:sp>
        <p:nvSpPr>
          <p:cNvPr id="9" name="Slide Number Placeholder 8"/>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355659-8350-4D31-9925-3B6C1D757712}" type="datetime1">
              <a:rPr lang="en-US" smtClean="0"/>
              <a:t>6/11/2025</a:t>
            </a:fld>
            <a:endParaRPr lang="en-US"/>
          </a:p>
        </p:txBody>
      </p:sp>
      <p:sp>
        <p:nvSpPr>
          <p:cNvPr id="4" name="Footer Placeholder 3"/>
          <p:cNvSpPr>
            <a:spLocks noGrp="1"/>
          </p:cNvSpPr>
          <p:nvPr>
            <p:ph type="ftr" sz="quarter" idx="11"/>
          </p:nvPr>
        </p:nvSpPr>
        <p:spPr/>
        <p:txBody>
          <a:bodyPr/>
          <a:lstStyle/>
          <a:p>
            <a:r>
              <a:rPr lang="en-US"/>
              <a:t>CSE(AI&amp;ML)-2024-25</a:t>
            </a:r>
          </a:p>
        </p:txBody>
      </p:sp>
      <p:sp>
        <p:nvSpPr>
          <p:cNvPr id="5" name="Slide Number Placeholder 4"/>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4D33F5-1B1D-4D31-8635-B37EE1FB004A}" type="datetime1">
              <a:rPr lang="en-US" smtClean="0"/>
              <a:t>6/11/2025</a:t>
            </a:fld>
            <a:endParaRPr lang="en-US"/>
          </a:p>
        </p:txBody>
      </p:sp>
      <p:sp>
        <p:nvSpPr>
          <p:cNvPr id="3" name="Footer Placeholder 2"/>
          <p:cNvSpPr>
            <a:spLocks noGrp="1"/>
          </p:cNvSpPr>
          <p:nvPr>
            <p:ph type="ftr" sz="quarter" idx="11"/>
          </p:nvPr>
        </p:nvSpPr>
        <p:spPr/>
        <p:txBody>
          <a:bodyPr/>
          <a:lstStyle/>
          <a:p>
            <a:r>
              <a:rPr lang="en-US"/>
              <a:t>CSE(AI&amp;ML)-2024-25</a:t>
            </a:r>
          </a:p>
        </p:txBody>
      </p:sp>
      <p:sp>
        <p:nvSpPr>
          <p:cNvPr id="4" name="Slide Number Placeholder 3"/>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79645E-6E1F-4D46-B553-EBBBA86A9CBE}" type="datetime1">
              <a:rPr lang="en-US" smtClean="0"/>
              <a:t>6/11/2025</a:t>
            </a:fld>
            <a:endParaRPr lang="en-US"/>
          </a:p>
        </p:txBody>
      </p:sp>
      <p:sp>
        <p:nvSpPr>
          <p:cNvPr id="6" name="Footer Placeholder 5"/>
          <p:cNvSpPr>
            <a:spLocks noGrp="1"/>
          </p:cNvSpPr>
          <p:nvPr>
            <p:ph type="ftr" sz="quarter" idx="11"/>
          </p:nvPr>
        </p:nvSpPr>
        <p:spPr/>
        <p:txBody>
          <a:bodyPr/>
          <a:lstStyle/>
          <a:p>
            <a:r>
              <a:rPr lang="en-US"/>
              <a:t>CSE(AI&amp;ML)-2024-25</a:t>
            </a:r>
          </a:p>
        </p:txBody>
      </p:sp>
      <p:sp>
        <p:nvSpPr>
          <p:cNvPr id="7" name="Slide Number Placeholder 6"/>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AC9FCD-A914-463C-B790-DBC951BBD1E0}" type="datetime1">
              <a:rPr lang="en-US" smtClean="0"/>
              <a:t>6/11/2025</a:t>
            </a:fld>
            <a:endParaRPr lang="en-US"/>
          </a:p>
        </p:txBody>
      </p:sp>
      <p:sp>
        <p:nvSpPr>
          <p:cNvPr id="6" name="Footer Placeholder 5"/>
          <p:cNvSpPr>
            <a:spLocks noGrp="1"/>
          </p:cNvSpPr>
          <p:nvPr>
            <p:ph type="ftr" sz="quarter" idx="11"/>
          </p:nvPr>
        </p:nvSpPr>
        <p:spPr/>
        <p:txBody>
          <a:bodyPr/>
          <a:lstStyle/>
          <a:p>
            <a:r>
              <a:rPr lang="en-US"/>
              <a:t>CSE(AI&amp;ML)-2024-25</a:t>
            </a:r>
          </a:p>
        </p:txBody>
      </p:sp>
      <p:sp>
        <p:nvSpPr>
          <p:cNvPr id="7" name="Slide Number Placeholder 6"/>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F19BBA-13C8-41F6-AE15-BDD3F9E9D242}" type="datetime1">
              <a:rPr lang="en-US" smtClean="0"/>
              <a:t>6/11/2025</a:t>
            </a:fld>
            <a:endParaRPr lang="en-US"/>
          </a:p>
        </p:txBody>
      </p:sp>
      <p:sp>
        <p:nvSpPr>
          <p:cNvPr id="5" name="Footer Placeholder 4"/>
          <p:cNvSpPr>
            <a:spLocks noGrp="1"/>
          </p:cNvSpPr>
          <p:nvPr>
            <p:ph type="ftr" sz="quarter" idx="11"/>
          </p:nvPr>
        </p:nvSpPr>
        <p:spPr/>
        <p:txBody>
          <a:bodyPr/>
          <a:lstStyle/>
          <a:p>
            <a:r>
              <a:rPr lang="en-US"/>
              <a:t>CSE(AI&amp;ML)-2024-25</a:t>
            </a:r>
          </a:p>
        </p:txBody>
      </p:sp>
      <p:sp>
        <p:nvSpPr>
          <p:cNvPr id="6" name="Slide Number Placeholder 5"/>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37B1BC-8E21-46A3-8F71-3726CAFBA52E}" type="datetime1">
              <a:rPr lang="en-US" smtClean="0"/>
              <a:t>6/11/2025</a:t>
            </a:fld>
            <a:endParaRPr lang="en-US"/>
          </a:p>
        </p:txBody>
      </p:sp>
      <p:sp>
        <p:nvSpPr>
          <p:cNvPr id="5" name="Footer Placeholder 4"/>
          <p:cNvSpPr>
            <a:spLocks noGrp="1"/>
          </p:cNvSpPr>
          <p:nvPr>
            <p:ph type="ftr" sz="quarter" idx="11"/>
          </p:nvPr>
        </p:nvSpPr>
        <p:spPr/>
        <p:txBody>
          <a:bodyPr/>
          <a:lstStyle/>
          <a:p>
            <a:r>
              <a:rPr lang="en-US"/>
              <a:t>CSE(AI&amp;ML)-2024-25</a:t>
            </a:r>
          </a:p>
        </p:txBody>
      </p:sp>
      <p:sp>
        <p:nvSpPr>
          <p:cNvPr id="6" name="Slide Number Placeholder 5"/>
          <p:cNvSpPr>
            <a:spLocks noGrp="1"/>
          </p:cNvSpPr>
          <p:nvPr>
            <p:ph type="sldNum" sz="quarter" idx="12"/>
          </p:nvPr>
        </p:nvSpPr>
        <p:spPr/>
        <p:txBody>
          <a:bodyPr/>
          <a:lstStyle/>
          <a:p>
            <a:fld id="{2490A9D7-3841-438D-A431-BE28F10945D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37DF85-B5CB-44AF-87C4-EEFD1F4BCCE3}" type="datetime1">
              <a:rPr lang="en-US" smtClean="0"/>
              <a:t>6/11/2025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CSE(AI&amp;ML)-2024-25</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0A9D7-3841-438D-A431-BE28F10945D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1772815"/>
            <a:ext cx="6696744" cy="864097"/>
          </a:xfrm>
        </p:spPr>
        <p:txBody>
          <a:bodyPr>
            <a:noAutofit/>
          </a:bodyPr>
          <a:lstStyle/>
          <a:p>
            <a:r>
              <a:rPr lang="en-US" sz="3600" b="1" dirty="0">
                <a:solidFill>
                  <a:schemeClr val="accent1"/>
                </a:solidFill>
                <a:latin typeface="Times New Roman" pitchFamily="18" charset="0"/>
                <a:cs typeface="Times New Roman" pitchFamily="18" charset="0"/>
              </a:rPr>
              <a:t>Secure sharing of Identity(KYC) </a:t>
            </a:r>
          </a:p>
        </p:txBody>
      </p:sp>
      <p:sp>
        <p:nvSpPr>
          <p:cNvPr id="3" name="Subtitle 2"/>
          <p:cNvSpPr>
            <a:spLocks noGrp="1"/>
          </p:cNvSpPr>
          <p:nvPr>
            <p:ph type="subTitle" idx="1"/>
          </p:nvPr>
        </p:nvSpPr>
        <p:spPr>
          <a:xfrm>
            <a:off x="395536" y="3933056"/>
            <a:ext cx="2376264" cy="2016224"/>
          </a:xfrm>
        </p:spPr>
        <p:txBody>
          <a:bodyPr>
            <a:normAutofit/>
          </a:bodyPr>
          <a:lstStyle/>
          <a:p>
            <a:pPr algn="just"/>
            <a:r>
              <a:rPr lang="en-US" sz="2400" b="1" dirty="0">
                <a:solidFill>
                  <a:srgbClr val="C00000"/>
                </a:solidFill>
                <a:latin typeface="Times New Roman" pitchFamily="18" charset="0"/>
                <a:cs typeface="Times New Roman" pitchFamily="18" charset="0"/>
              </a:rPr>
              <a:t>Guide</a:t>
            </a:r>
            <a:r>
              <a:rPr lang="en-US" sz="2400" b="1" dirty="0">
                <a:solidFill>
                  <a:schemeClr val="tx1"/>
                </a:solidFill>
                <a:latin typeface="Times New Roman" pitchFamily="18" charset="0"/>
                <a:cs typeface="Times New Roman" pitchFamily="18" charset="0"/>
              </a:rPr>
              <a:t> </a:t>
            </a:r>
          </a:p>
          <a:p>
            <a:pPr algn="just"/>
            <a:r>
              <a:rPr lang="en-US" sz="1600" b="1" dirty="0">
                <a:solidFill>
                  <a:schemeClr val="tx1"/>
                </a:solidFill>
                <a:latin typeface="Times New Roman" pitchFamily="18" charset="0"/>
                <a:cs typeface="Times New Roman" pitchFamily="18" charset="0"/>
              </a:rPr>
              <a:t>Mr.V.Hirish Reddy</a:t>
            </a:r>
          </a:p>
          <a:p>
            <a:pPr algn="just"/>
            <a:r>
              <a:rPr lang="en-US" sz="1600" b="1" dirty="0">
                <a:solidFill>
                  <a:schemeClr val="tx1"/>
                </a:solidFill>
                <a:latin typeface="Times New Roman" pitchFamily="18" charset="0"/>
                <a:cs typeface="Times New Roman" pitchFamily="18" charset="0"/>
              </a:rPr>
              <a:t>Asst.Professor</a:t>
            </a:r>
          </a:p>
          <a:p>
            <a:pPr algn="just"/>
            <a:r>
              <a:rPr lang="en-US" sz="1600" b="1" dirty="0">
                <a:solidFill>
                  <a:schemeClr val="tx1"/>
                </a:solidFill>
                <a:latin typeface="Times New Roman" pitchFamily="18" charset="0"/>
                <a:cs typeface="Times New Roman" pitchFamily="18" charset="0"/>
              </a:rPr>
              <a:t>Dept. of CSE(AI&amp;ML)</a:t>
            </a:r>
          </a:p>
          <a:p>
            <a:pPr algn="just"/>
            <a:r>
              <a:rPr lang="en-US" sz="1600" b="1" dirty="0">
                <a:solidFill>
                  <a:schemeClr val="tx1"/>
                </a:solidFill>
                <a:latin typeface="Times New Roman" pitchFamily="18" charset="0"/>
                <a:cs typeface="Times New Roman" pitchFamily="18" charset="0"/>
              </a:rPr>
              <a:t>VCET-HYD</a:t>
            </a:r>
          </a:p>
        </p:txBody>
      </p:sp>
      <p:pic>
        <p:nvPicPr>
          <p:cNvPr id="4" name="Picture 3" descr="C:\Users\Dell\Downloads\WhatsApp Image 2024-02-09 at 3.43.18 PM.jpeg"/>
          <p:cNvPicPr/>
          <p:nvPr/>
        </p:nvPicPr>
        <p:blipFill>
          <a:blip r:embed="rId3" cstate="print"/>
          <a:srcRect b="81474"/>
          <a:stretch>
            <a:fillRect/>
          </a:stretch>
        </p:blipFill>
        <p:spPr bwMode="auto">
          <a:xfrm>
            <a:off x="0" y="0"/>
            <a:ext cx="9144000" cy="1412776"/>
          </a:xfrm>
          <a:prstGeom prst="rect">
            <a:avLst/>
          </a:prstGeom>
          <a:noFill/>
          <a:ln w="9525">
            <a:noFill/>
            <a:miter lim="800000"/>
            <a:headEnd/>
            <a:tailEnd/>
          </a:ln>
        </p:spPr>
      </p:pic>
      <p:sp>
        <p:nvSpPr>
          <p:cNvPr id="5" name="TextBox 4"/>
          <p:cNvSpPr txBox="1"/>
          <p:nvPr/>
        </p:nvSpPr>
        <p:spPr>
          <a:xfrm>
            <a:off x="4716016" y="3933056"/>
            <a:ext cx="4032448" cy="369332"/>
          </a:xfrm>
          <a:prstGeom prst="rect">
            <a:avLst/>
          </a:prstGeom>
          <a:noFill/>
        </p:spPr>
        <p:txBody>
          <a:bodyPr wrap="square" rtlCol="0">
            <a:spAutoFit/>
          </a:bodyPr>
          <a:lstStyle/>
          <a:p>
            <a:endParaRPr lang="en-US" dirty="0"/>
          </a:p>
        </p:txBody>
      </p:sp>
      <p:sp>
        <p:nvSpPr>
          <p:cNvPr id="7" name="Footer Placeholder 6"/>
          <p:cNvSpPr>
            <a:spLocks noGrp="1"/>
          </p:cNvSpPr>
          <p:nvPr>
            <p:ph type="ftr" sz="quarter" idx="11"/>
          </p:nvPr>
        </p:nvSpPr>
        <p:spPr/>
        <p:txBody>
          <a:bodyPr/>
          <a:lstStyle/>
          <a:p>
            <a:r>
              <a:rPr lang="en-US" dirty="0"/>
              <a:t>CSE(AI&amp;ML)-2024-25</a:t>
            </a:r>
          </a:p>
        </p:txBody>
      </p:sp>
      <p:sp>
        <p:nvSpPr>
          <p:cNvPr id="8" name="TextBox 7">
            <a:extLst>
              <a:ext uri="{FF2B5EF4-FFF2-40B4-BE49-F238E27FC236}">
                <a16:creationId xmlns:a16="http://schemas.microsoft.com/office/drawing/2014/main" id="{13F3F7A3-CE67-587E-6495-83A72787D6D4}"/>
              </a:ext>
            </a:extLst>
          </p:cNvPr>
          <p:cNvSpPr txBox="1"/>
          <p:nvPr/>
        </p:nvSpPr>
        <p:spPr>
          <a:xfrm>
            <a:off x="5572837" y="4311516"/>
            <a:ext cx="3168352"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 .Prashanth -22BT1A6643</a:t>
            </a:r>
          </a:p>
          <a:p>
            <a:r>
              <a:rPr lang="en-IN" b="1" dirty="0">
                <a:latin typeface="Times New Roman" panose="02020603050405020304" pitchFamily="18" charset="0"/>
                <a:cs typeface="Times New Roman" panose="02020603050405020304" pitchFamily="18" charset="0"/>
              </a:rPr>
              <a:t>K .Venkat -22BT1A6632</a:t>
            </a:r>
          </a:p>
          <a:p>
            <a:r>
              <a:rPr lang="en-IN" b="1" dirty="0">
                <a:latin typeface="Times New Roman" panose="02020603050405020304" pitchFamily="18" charset="0"/>
                <a:cs typeface="Times New Roman" panose="02020603050405020304" pitchFamily="18" charset="0"/>
              </a:rPr>
              <a:t>Y .Komali- 22BT1A6657</a:t>
            </a:r>
          </a:p>
          <a:p>
            <a:r>
              <a:rPr lang="en-IN" b="1" dirty="0">
                <a:latin typeface="Times New Roman" panose="02020603050405020304" pitchFamily="18" charset="0"/>
                <a:cs typeface="Times New Roman" panose="02020603050405020304" pitchFamily="18" charset="0"/>
              </a:rPr>
              <a:t>B .Raviteja -22BT1A6612</a:t>
            </a:r>
          </a:p>
          <a:p>
            <a:r>
              <a:rPr lang="en-IN" b="1" dirty="0">
                <a:latin typeface="Times New Roman" panose="02020603050405020304" pitchFamily="18" charset="0"/>
                <a:cs typeface="Times New Roman" panose="02020603050405020304" pitchFamily="18" charset="0"/>
              </a:rPr>
              <a:t>B. Aruna -22BT5A6601</a:t>
            </a:r>
          </a:p>
          <a:p>
            <a:r>
              <a:rPr lang="en-IN" b="1" dirty="0">
                <a:latin typeface="Times New Roman" panose="02020603050405020304" pitchFamily="18" charset="0"/>
                <a:cs typeface="Times New Roman" panose="02020603050405020304" pitchFamily="18" charset="0"/>
              </a:rPr>
              <a:t>T. Sai kumar-22BT1A6654</a:t>
            </a:r>
          </a:p>
        </p:txBody>
      </p:sp>
      <p:sp>
        <p:nvSpPr>
          <p:cNvPr id="9" name="TextBox 8">
            <a:extLst>
              <a:ext uri="{FF2B5EF4-FFF2-40B4-BE49-F238E27FC236}">
                <a16:creationId xmlns:a16="http://schemas.microsoft.com/office/drawing/2014/main" id="{7BACAF8B-B5CC-2436-64BE-643D0D260386}"/>
              </a:ext>
            </a:extLst>
          </p:cNvPr>
          <p:cNvSpPr txBox="1"/>
          <p:nvPr/>
        </p:nvSpPr>
        <p:spPr>
          <a:xfrm>
            <a:off x="5652120" y="3789040"/>
            <a:ext cx="2751584" cy="461665"/>
          </a:xfrm>
          <a:prstGeom prst="rect">
            <a:avLst/>
          </a:prstGeom>
          <a:noFill/>
        </p:spPr>
        <p:txBody>
          <a:bodyPr wrap="square" rtlCol="0">
            <a:spAutoFit/>
          </a:bodyPr>
          <a:lstStyle/>
          <a:p>
            <a:r>
              <a:rPr lang="en-IN" sz="2400" b="1" dirty="0">
                <a:solidFill>
                  <a:schemeClr val="accent2"/>
                </a:solidFill>
              </a:rPr>
              <a:t>Presenting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728" y="1484784"/>
            <a:ext cx="5256584" cy="720080"/>
          </a:xfrm>
        </p:spPr>
        <p:txBody>
          <a:bodyPr>
            <a:noAutofit/>
          </a:bodyPr>
          <a:lstStyle/>
          <a:p>
            <a:r>
              <a:rPr lang="en-US" sz="4000" b="1" dirty="0">
                <a:solidFill>
                  <a:schemeClr val="accent1"/>
                </a:solidFill>
                <a:latin typeface="Times New Roman" pitchFamily="18" charset="0"/>
                <a:cs typeface="Times New Roman" pitchFamily="18" charset="0"/>
              </a:rPr>
              <a:t>Topics to be covered</a:t>
            </a:r>
          </a:p>
        </p:txBody>
      </p:sp>
      <p:sp>
        <p:nvSpPr>
          <p:cNvPr id="3" name="Subtitle 2"/>
          <p:cNvSpPr>
            <a:spLocks noGrp="1"/>
          </p:cNvSpPr>
          <p:nvPr>
            <p:ph type="subTitle" idx="1"/>
          </p:nvPr>
        </p:nvSpPr>
        <p:spPr>
          <a:xfrm>
            <a:off x="539552" y="2204864"/>
            <a:ext cx="7128792" cy="4032448"/>
          </a:xfrm>
        </p:spPr>
        <p:txBody>
          <a:bodyPr>
            <a:normAutofit lnSpcReduction="10000"/>
          </a:bodyPr>
          <a:lstStyle/>
          <a:p>
            <a:pPr algn="just">
              <a:buFont typeface="Wingdings" pitchFamily="2" charset="2"/>
              <a:buChar char="§"/>
            </a:pPr>
            <a:r>
              <a:rPr lang="en-US" sz="1600" b="1" dirty="0">
                <a:solidFill>
                  <a:schemeClr val="tx1"/>
                </a:solidFill>
                <a:latin typeface="Times New Roman" pitchFamily="18" charset="0"/>
                <a:cs typeface="Times New Roman" pitchFamily="18" charset="0"/>
              </a:rPr>
              <a:t> Abstract</a:t>
            </a:r>
          </a:p>
          <a:p>
            <a:pPr algn="just">
              <a:buFont typeface="Wingdings" pitchFamily="2" charset="2"/>
              <a:buChar char="§"/>
            </a:pPr>
            <a:r>
              <a:rPr lang="en-US" sz="1600" b="1" dirty="0">
                <a:solidFill>
                  <a:schemeClr val="tx1"/>
                </a:solidFill>
                <a:latin typeface="Times New Roman" pitchFamily="18" charset="0"/>
                <a:cs typeface="Times New Roman" pitchFamily="18" charset="0"/>
              </a:rPr>
              <a:t>Introduction</a:t>
            </a:r>
          </a:p>
          <a:p>
            <a:pPr algn="just">
              <a:buFont typeface="Wingdings" pitchFamily="2" charset="2"/>
              <a:buChar char="§"/>
            </a:pPr>
            <a:r>
              <a:rPr lang="en-US" sz="1600" b="1" dirty="0">
                <a:solidFill>
                  <a:schemeClr val="tx1"/>
                </a:solidFill>
                <a:latin typeface="Times New Roman" pitchFamily="18" charset="0"/>
                <a:cs typeface="Times New Roman" pitchFamily="18" charset="0"/>
              </a:rPr>
              <a:t>Problem statement</a:t>
            </a:r>
          </a:p>
          <a:p>
            <a:pPr algn="just">
              <a:buFont typeface="Wingdings" pitchFamily="2" charset="2"/>
              <a:buChar char="§"/>
            </a:pPr>
            <a:r>
              <a:rPr lang="en-US" sz="1600" b="1" dirty="0">
                <a:solidFill>
                  <a:schemeClr val="tx1"/>
                </a:solidFill>
                <a:latin typeface="Times New Roman" pitchFamily="18" charset="0"/>
                <a:cs typeface="Times New Roman" pitchFamily="18" charset="0"/>
              </a:rPr>
              <a:t>Objectives</a:t>
            </a:r>
          </a:p>
          <a:p>
            <a:pPr algn="just">
              <a:buFont typeface="Wingdings" pitchFamily="2" charset="2"/>
              <a:buChar char="§"/>
            </a:pPr>
            <a:r>
              <a:rPr lang="en-US" sz="1600" b="1" dirty="0">
                <a:solidFill>
                  <a:schemeClr val="tx1"/>
                </a:solidFill>
                <a:latin typeface="Times New Roman" pitchFamily="18" charset="0"/>
                <a:cs typeface="Times New Roman" pitchFamily="18" charset="0"/>
              </a:rPr>
              <a:t>Literature Survey</a:t>
            </a:r>
          </a:p>
          <a:p>
            <a:pPr algn="just">
              <a:buFont typeface="Wingdings" pitchFamily="2" charset="2"/>
              <a:buChar char="§"/>
            </a:pPr>
            <a:r>
              <a:rPr lang="en-US" sz="1600" b="1" dirty="0">
                <a:solidFill>
                  <a:schemeClr val="tx1"/>
                </a:solidFill>
                <a:latin typeface="Times New Roman" pitchFamily="18" charset="0"/>
                <a:cs typeface="Times New Roman" pitchFamily="18" charset="0"/>
              </a:rPr>
              <a:t>System Analysis( Existing and proposed )</a:t>
            </a:r>
          </a:p>
          <a:p>
            <a:pPr algn="just">
              <a:buFont typeface="Wingdings" pitchFamily="2" charset="2"/>
              <a:buChar char="§"/>
            </a:pPr>
            <a:r>
              <a:rPr lang="en-US" sz="1600" b="1" dirty="0">
                <a:solidFill>
                  <a:schemeClr val="tx1"/>
                </a:solidFill>
                <a:latin typeface="Times New Roman" pitchFamily="18" charset="0"/>
                <a:cs typeface="Times New Roman" pitchFamily="18" charset="0"/>
              </a:rPr>
              <a:t>System design/ architecture</a:t>
            </a:r>
          </a:p>
          <a:p>
            <a:pPr algn="just">
              <a:buFont typeface="Wingdings" pitchFamily="2" charset="2"/>
              <a:buChar char="§"/>
            </a:pPr>
            <a:r>
              <a:rPr lang="en-US" sz="1600" b="1" dirty="0">
                <a:solidFill>
                  <a:schemeClr val="tx1"/>
                </a:solidFill>
                <a:latin typeface="Times New Roman" pitchFamily="18" charset="0"/>
                <a:cs typeface="Times New Roman" pitchFamily="18" charset="0"/>
              </a:rPr>
              <a:t> Technologies used</a:t>
            </a:r>
          </a:p>
          <a:p>
            <a:pPr algn="just">
              <a:buFont typeface="Wingdings" pitchFamily="2" charset="2"/>
              <a:buChar char="§"/>
            </a:pPr>
            <a:r>
              <a:rPr lang="en-US" sz="1600" b="1" dirty="0">
                <a:solidFill>
                  <a:schemeClr val="tx1"/>
                </a:solidFill>
                <a:latin typeface="Times New Roman" pitchFamily="18" charset="0"/>
                <a:cs typeface="Times New Roman" pitchFamily="18" charset="0"/>
              </a:rPr>
              <a:t>Implementation( code / screen shots/ key modules)</a:t>
            </a:r>
          </a:p>
          <a:p>
            <a:pPr algn="just">
              <a:buFont typeface="Wingdings" pitchFamily="2" charset="2"/>
              <a:buChar char="§"/>
            </a:pPr>
            <a:r>
              <a:rPr lang="en-US" sz="1600" b="1" dirty="0">
                <a:solidFill>
                  <a:schemeClr val="tx1"/>
                </a:solidFill>
                <a:latin typeface="Times New Roman" pitchFamily="18" charset="0"/>
                <a:cs typeface="Times New Roman" pitchFamily="18" charset="0"/>
              </a:rPr>
              <a:t>Testing </a:t>
            </a:r>
          </a:p>
          <a:p>
            <a:pPr algn="just">
              <a:buFont typeface="Wingdings" pitchFamily="2" charset="2"/>
              <a:buChar char="§"/>
            </a:pPr>
            <a:r>
              <a:rPr lang="en-US" sz="1600" b="1" dirty="0">
                <a:solidFill>
                  <a:schemeClr val="tx1"/>
                </a:solidFill>
                <a:latin typeface="Times New Roman" pitchFamily="18" charset="0"/>
                <a:cs typeface="Times New Roman" pitchFamily="18" charset="0"/>
              </a:rPr>
              <a:t>Results</a:t>
            </a:r>
          </a:p>
          <a:p>
            <a:pPr algn="just">
              <a:buFont typeface="Wingdings" pitchFamily="2" charset="2"/>
              <a:buChar char="§"/>
            </a:pPr>
            <a:r>
              <a:rPr lang="en-US" sz="1600" b="1" dirty="0">
                <a:solidFill>
                  <a:schemeClr val="tx1"/>
                </a:solidFill>
                <a:latin typeface="Times New Roman" pitchFamily="18" charset="0"/>
                <a:cs typeface="Times New Roman" pitchFamily="18" charset="0"/>
              </a:rPr>
              <a:t>Conclusion</a:t>
            </a:r>
          </a:p>
          <a:p>
            <a:pPr algn="just">
              <a:buFont typeface="Wingdings" pitchFamily="2" charset="2"/>
              <a:buChar char="§"/>
            </a:pPr>
            <a:r>
              <a:rPr lang="en-US" sz="1600" b="1" dirty="0">
                <a:solidFill>
                  <a:schemeClr val="tx1"/>
                </a:solidFill>
                <a:latin typeface="Times New Roman" pitchFamily="18" charset="0"/>
                <a:cs typeface="Times New Roman" pitchFamily="18" charset="0"/>
              </a:rPr>
              <a:t>Future scope</a:t>
            </a:r>
          </a:p>
          <a:p>
            <a:pPr algn="just">
              <a:buFont typeface="Wingdings" pitchFamily="2" charset="2"/>
              <a:buChar char="§"/>
            </a:pPr>
            <a:r>
              <a:rPr lang="en-US" sz="1600" b="1" dirty="0">
                <a:solidFill>
                  <a:schemeClr val="tx1"/>
                </a:solidFill>
                <a:latin typeface="Times New Roman" pitchFamily="18" charset="0"/>
                <a:cs typeface="Times New Roman" pitchFamily="18" charset="0"/>
              </a:rPr>
              <a:t>Reference</a:t>
            </a:r>
          </a:p>
          <a:p>
            <a:pPr algn="just">
              <a:buFont typeface="Wingdings" pitchFamily="2" charset="2"/>
              <a:buChar char="§"/>
            </a:pPr>
            <a:endParaRPr lang="en-US" sz="1600" b="1" dirty="0">
              <a:solidFill>
                <a:schemeClr val="tx1"/>
              </a:solidFill>
              <a:latin typeface="Times New Roman" pitchFamily="18" charset="0"/>
              <a:cs typeface="Times New Roman" pitchFamily="18" charset="0"/>
            </a:endParaRPr>
          </a:p>
        </p:txBody>
      </p:sp>
      <p:pic>
        <p:nvPicPr>
          <p:cNvPr id="4" name="Picture 3" descr="C:\Users\Dell\Downloads\WhatsApp Image 2024-02-09 at 3.43.18 PM.jpeg"/>
          <p:cNvPicPr/>
          <p:nvPr/>
        </p:nvPicPr>
        <p:blipFill>
          <a:blip r:embed="rId3" cstate="print"/>
          <a:srcRect b="81474"/>
          <a:stretch>
            <a:fillRect/>
          </a:stretch>
        </p:blipFill>
        <p:spPr bwMode="auto">
          <a:xfrm>
            <a:off x="0" y="0"/>
            <a:ext cx="9144000" cy="1412776"/>
          </a:xfrm>
          <a:prstGeom prst="rect">
            <a:avLst/>
          </a:prstGeom>
          <a:noFill/>
          <a:ln w="9525">
            <a:noFill/>
            <a:miter lim="800000"/>
            <a:headEnd/>
            <a:tailEnd/>
          </a:ln>
        </p:spPr>
      </p:pic>
      <p:sp>
        <p:nvSpPr>
          <p:cNvPr id="5" name="TextBox 4"/>
          <p:cNvSpPr txBox="1"/>
          <p:nvPr/>
        </p:nvSpPr>
        <p:spPr>
          <a:xfrm>
            <a:off x="4716016" y="3933056"/>
            <a:ext cx="4032448" cy="369332"/>
          </a:xfrm>
          <a:prstGeom prst="rect">
            <a:avLst/>
          </a:prstGeom>
          <a:noFill/>
        </p:spPr>
        <p:txBody>
          <a:bodyPr wrap="square" rtlCol="0">
            <a:spAutoFit/>
          </a:bodyPr>
          <a:lstStyle/>
          <a:p>
            <a:endParaRPr lang="en-US" dirty="0"/>
          </a:p>
        </p:txBody>
      </p:sp>
      <p:sp>
        <p:nvSpPr>
          <p:cNvPr id="6" name="Footer Placeholder 5"/>
          <p:cNvSpPr>
            <a:spLocks noGrp="1"/>
          </p:cNvSpPr>
          <p:nvPr>
            <p:ph type="ftr" sz="quarter" idx="11"/>
          </p:nvPr>
        </p:nvSpPr>
        <p:spPr/>
        <p:txBody>
          <a:bodyPr/>
          <a:lstStyle/>
          <a:p>
            <a:r>
              <a:rPr lang="en-US"/>
              <a:t>CSE(AI&amp;ML)-2024-25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728" y="1484784"/>
            <a:ext cx="4608512" cy="720080"/>
          </a:xfrm>
        </p:spPr>
        <p:txBody>
          <a:bodyPr>
            <a:noAutofit/>
          </a:bodyPr>
          <a:lstStyle/>
          <a:p>
            <a:r>
              <a:rPr lang="en-US" sz="4000" b="1" dirty="0">
                <a:solidFill>
                  <a:schemeClr val="accent1"/>
                </a:solidFill>
                <a:latin typeface="Times New Roman" pitchFamily="18" charset="0"/>
                <a:cs typeface="Times New Roman" pitchFamily="18" charset="0"/>
              </a:rPr>
              <a:t>Abstract</a:t>
            </a:r>
          </a:p>
        </p:txBody>
      </p:sp>
      <p:sp>
        <p:nvSpPr>
          <p:cNvPr id="3" name="Subtitle 2"/>
          <p:cNvSpPr>
            <a:spLocks noGrp="1"/>
          </p:cNvSpPr>
          <p:nvPr>
            <p:ph type="subTitle" idx="1"/>
          </p:nvPr>
        </p:nvSpPr>
        <p:spPr>
          <a:xfrm>
            <a:off x="395536" y="2204864"/>
            <a:ext cx="8568952" cy="4151486"/>
          </a:xfrm>
        </p:spPr>
        <p:txBody>
          <a:bodyPr>
            <a:noAutofit/>
          </a:bodyPr>
          <a:lstStyle/>
          <a:p>
            <a:pPr marL="285750" indent="-285750" algn="just">
              <a:lnSpc>
                <a:spcPct val="150000"/>
              </a:lnSpc>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This project focuses on the secure sharing of identity (KYC) information using blockchain and decentralized storage technologies. </a:t>
            </a:r>
          </a:p>
          <a:p>
            <a:pPr marL="285750" indent="-285750" algn="just">
              <a:lnSpc>
                <a:spcPct val="150000"/>
              </a:lnSpc>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Users can upload their KYC documents, which are encrypted and stored on </a:t>
            </a:r>
            <a:r>
              <a:rPr lang="en-US" sz="1800" b="1" dirty="0">
                <a:solidFill>
                  <a:schemeClr val="tx1"/>
                </a:solidFill>
                <a:latin typeface="Times New Roman" panose="02020603050405020304" pitchFamily="18" charset="0"/>
                <a:cs typeface="Times New Roman" panose="02020603050405020304" pitchFamily="18" charset="0"/>
              </a:rPr>
              <a:t>IPFS,</a:t>
            </a:r>
            <a:r>
              <a:rPr lang="en-US" sz="1800" dirty="0">
                <a:solidFill>
                  <a:schemeClr val="tx1"/>
                </a:solidFill>
                <a:latin typeface="Times New Roman" panose="02020603050405020304" pitchFamily="18" charset="0"/>
                <a:cs typeface="Times New Roman" panose="02020603050405020304" pitchFamily="18" charset="0"/>
              </a:rPr>
              <a:t> while access control is managed through smart contracts.</a:t>
            </a:r>
          </a:p>
          <a:p>
            <a:pPr marL="285750" indent="-285750" algn="just">
              <a:lnSpc>
                <a:spcPct val="150000"/>
              </a:lnSpc>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 The system ensures </a:t>
            </a:r>
            <a:r>
              <a:rPr lang="en-US" sz="1800" b="1" dirty="0">
                <a:solidFill>
                  <a:schemeClr val="tx1"/>
                </a:solidFill>
                <a:latin typeface="Times New Roman" panose="02020603050405020304" pitchFamily="18" charset="0"/>
                <a:cs typeface="Times New Roman" panose="02020603050405020304" pitchFamily="18" charset="0"/>
              </a:rPr>
              <a:t>data integrity</a:t>
            </a:r>
            <a:r>
              <a:rPr lang="en-US" sz="1800" dirty="0">
                <a:solidFill>
                  <a:schemeClr val="tx1"/>
                </a:solidFill>
                <a:latin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cs typeface="Times New Roman" panose="02020603050405020304" pitchFamily="18" charset="0"/>
              </a:rPr>
              <a:t>privacy</a:t>
            </a:r>
            <a:r>
              <a:rPr lang="en-US" sz="1800" dirty="0">
                <a:solidFill>
                  <a:schemeClr val="tx1"/>
                </a:solidFill>
                <a:latin typeface="Times New Roman" panose="02020603050405020304" pitchFamily="18" charset="0"/>
                <a:cs typeface="Times New Roman" panose="02020603050405020304" pitchFamily="18" charset="0"/>
              </a:rPr>
              <a:t>, and </a:t>
            </a:r>
            <a:r>
              <a:rPr lang="en-US" sz="1800" b="1" dirty="0">
                <a:solidFill>
                  <a:schemeClr val="tx1"/>
                </a:solidFill>
                <a:latin typeface="Times New Roman" panose="02020603050405020304" pitchFamily="18" charset="0"/>
                <a:cs typeface="Times New Roman" panose="02020603050405020304" pitchFamily="18" charset="0"/>
              </a:rPr>
              <a:t>tamper-proof verification for authorized parties. </a:t>
            </a:r>
          </a:p>
          <a:p>
            <a:pPr marL="285750" indent="-285750" algn="just">
              <a:lnSpc>
                <a:spcPct val="150000"/>
              </a:lnSpc>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Verifiers can access KYC data only with user consent, </a:t>
            </a:r>
            <a:r>
              <a:rPr lang="en-US" sz="1800" b="1" dirty="0">
                <a:solidFill>
                  <a:schemeClr val="tx1"/>
                </a:solidFill>
                <a:latin typeface="Times New Roman" panose="02020603050405020304" pitchFamily="18" charset="0"/>
                <a:cs typeface="Times New Roman" panose="02020603050405020304" pitchFamily="18" charset="0"/>
              </a:rPr>
              <a:t>promoting transparency </a:t>
            </a:r>
            <a:r>
              <a:rPr lang="en-US" sz="1800" dirty="0">
                <a:solidFill>
                  <a:schemeClr val="tx1"/>
                </a:solidFill>
                <a:latin typeface="Times New Roman" panose="02020603050405020304" pitchFamily="18" charset="0"/>
                <a:cs typeface="Times New Roman" panose="02020603050405020304" pitchFamily="18" charset="0"/>
              </a:rPr>
              <a:t>and </a:t>
            </a:r>
            <a:r>
              <a:rPr lang="en-US" sz="1800" b="1" dirty="0">
                <a:solidFill>
                  <a:schemeClr val="tx1"/>
                </a:solidFill>
                <a:latin typeface="Times New Roman" panose="02020603050405020304" pitchFamily="18" charset="0"/>
                <a:cs typeface="Times New Roman" panose="02020603050405020304" pitchFamily="18" charset="0"/>
              </a:rPr>
              <a:t>user control. </a:t>
            </a:r>
          </a:p>
          <a:p>
            <a:pPr marL="285750" indent="-285750" algn="just">
              <a:lnSpc>
                <a:spcPct val="150000"/>
              </a:lnSpc>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This solution reduces repetitive KYC processes and enhances trust in </a:t>
            </a:r>
            <a:r>
              <a:rPr lang="en-US" sz="1800" b="1" dirty="0">
                <a:solidFill>
                  <a:schemeClr val="tx1"/>
                </a:solidFill>
                <a:latin typeface="Times New Roman" panose="02020603050405020304" pitchFamily="18" charset="0"/>
                <a:cs typeface="Times New Roman" panose="02020603050405020304" pitchFamily="18" charset="0"/>
              </a:rPr>
              <a:t>digital identity management</a:t>
            </a:r>
            <a:r>
              <a:rPr lang="en-US" sz="1800" b="1" dirty="0">
                <a:latin typeface="Times New Roman" panose="02020603050405020304" pitchFamily="18" charset="0"/>
                <a:cs typeface="Times New Roman" panose="02020603050405020304" pitchFamily="18" charset="0"/>
              </a:rPr>
              <a:t>.</a:t>
            </a:r>
            <a:endParaRPr lang="en-US" sz="1800" b="1" dirty="0">
              <a:solidFill>
                <a:schemeClr val="tx1"/>
              </a:solidFill>
              <a:latin typeface="Times New Roman" panose="02020603050405020304" pitchFamily="18" charset="0"/>
              <a:cs typeface="Times New Roman" pitchFamily="18" charset="0"/>
            </a:endParaRPr>
          </a:p>
        </p:txBody>
      </p:sp>
      <p:pic>
        <p:nvPicPr>
          <p:cNvPr id="4" name="Picture 3" descr="C:\Users\Dell\Downloads\WhatsApp Image 2024-02-09 at 3.43.18 PM.jpeg"/>
          <p:cNvPicPr/>
          <p:nvPr/>
        </p:nvPicPr>
        <p:blipFill>
          <a:blip r:embed="rId3" cstate="print"/>
          <a:srcRect b="81474"/>
          <a:stretch>
            <a:fillRect/>
          </a:stretch>
        </p:blipFill>
        <p:spPr bwMode="auto">
          <a:xfrm>
            <a:off x="0" y="0"/>
            <a:ext cx="9144000" cy="1412776"/>
          </a:xfrm>
          <a:prstGeom prst="rect">
            <a:avLst/>
          </a:prstGeom>
          <a:noFill/>
          <a:ln w="9525">
            <a:noFill/>
            <a:miter lim="800000"/>
            <a:headEnd/>
            <a:tailEnd/>
          </a:ln>
        </p:spPr>
      </p:pic>
      <p:sp>
        <p:nvSpPr>
          <p:cNvPr id="6" name="Footer Placeholder 5"/>
          <p:cNvSpPr>
            <a:spLocks noGrp="1"/>
          </p:cNvSpPr>
          <p:nvPr>
            <p:ph type="ftr" sz="quarter" idx="11"/>
          </p:nvPr>
        </p:nvSpPr>
        <p:spPr/>
        <p:txBody>
          <a:bodyPr/>
          <a:lstStyle/>
          <a:p>
            <a:r>
              <a:rPr lang="en-US"/>
              <a:t>CSE(AI&amp;ML)-2024-25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728" y="1988840"/>
            <a:ext cx="4464496" cy="216024"/>
          </a:xfrm>
        </p:spPr>
        <p:txBody>
          <a:bodyPr>
            <a:noAutofit/>
          </a:bodyPr>
          <a:lstStyle/>
          <a:p>
            <a:r>
              <a:rPr lang="en-US" b="1" dirty="0">
                <a:solidFill>
                  <a:schemeClr val="accent1"/>
                </a:solidFill>
                <a:latin typeface="Times New Roman" pitchFamily="18" charset="0"/>
                <a:cs typeface="Times New Roman" pitchFamily="18" charset="0"/>
              </a:rPr>
              <a:t>Introduction</a:t>
            </a:r>
            <a:br>
              <a:rPr lang="en-US" b="1" dirty="0">
                <a:latin typeface="Times New Roman" pitchFamily="18" charset="0"/>
                <a:cs typeface="Times New Roman" pitchFamily="18" charset="0"/>
              </a:rPr>
            </a:br>
            <a:endParaRPr lang="en-US" b="1" dirty="0">
              <a:solidFill>
                <a:srgbClr val="FF0000"/>
              </a:solidFill>
              <a:latin typeface="Times New Roman" pitchFamily="18" charset="0"/>
              <a:cs typeface="Times New Roman" pitchFamily="18" charset="0"/>
            </a:endParaRPr>
          </a:p>
        </p:txBody>
      </p:sp>
      <p:pic>
        <p:nvPicPr>
          <p:cNvPr id="4" name="Picture 3" descr="C:\Users\Dell\Downloads\WhatsApp Image 2024-02-09 at 3.43.18 PM.jpeg"/>
          <p:cNvPicPr/>
          <p:nvPr/>
        </p:nvPicPr>
        <p:blipFill>
          <a:blip r:embed="rId3" cstate="print"/>
          <a:srcRect b="81474"/>
          <a:stretch>
            <a:fillRect/>
          </a:stretch>
        </p:blipFill>
        <p:spPr bwMode="auto">
          <a:xfrm>
            <a:off x="0" y="0"/>
            <a:ext cx="9144000" cy="1412776"/>
          </a:xfrm>
          <a:prstGeom prst="rect">
            <a:avLst/>
          </a:prstGeom>
          <a:noFill/>
          <a:ln w="9525">
            <a:noFill/>
            <a:miter lim="800000"/>
            <a:headEnd/>
            <a:tailEnd/>
          </a:ln>
        </p:spPr>
      </p:pic>
      <p:sp>
        <p:nvSpPr>
          <p:cNvPr id="5" name="TextBox 4"/>
          <p:cNvSpPr txBox="1"/>
          <p:nvPr/>
        </p:nvSpPr>
        <p:spPr>
          <a:xfrm>
            <a:off x="4716016" y="3933056"/>
            <a:ext cx="4032448" cy="369332"/>
          </a:xfrm>
          <a:prstGeom prst="rect">
            <a:avLst/>
          </a:prstGeom>
          <a:noFill/>
        </p:spPr>
        <p:txBody>
          <a:bodyPr wrap="square" rtlCol="0">
            <a:spAutoFit/>
          </a:bodyPr>
          <a:lstStyle/>
          <a:p>
            <a:endParaRPr lang="en-US" dirty="0"/>
          </a:p>
        </p:txBody>
      </p:sp>
      <p:sp>
        <p:nvSpPr>
          <p:cNvPr id="6" name="Footer Placeholder 5"/>
          <p:cNvSpPr>
            <a:spLocks noGrp="1"/>
          </p:cNvSpPr>
          <p:nvPr>
            <p:ph type="ftr" sz="quarter" idx="11"/>
          </p:nvPr>
        </p:nvSpPr>
        <p:spPr/>
        <p:txBody>
          <a:bodyPr/>
          <a:lstStyle/>
          <a:p>
            <a:r>
              <a:rPr lang="en-US"/>
              <a:t>CSE(AI&amp;ML)-2024-25</a:t>
            </a:r>
          </a:p>
        </p:txBody>
      </p:sp>
      <p:sp>
        <p:nvSpPr>
          <p:cNvPr id="7" name="Rectangle 1">
            <a:extLst>
              <a:ext uri="{FF2B5EF4-FFF2-40B4-BE49-F238E27FC236}">
                <a16:creationId xmlns:a16="http://schemas.microsoft.com/office/drawing/2014/main" id="{D22DA7B6-B436-74AA-88D7-EC562B1DA097}"/>
              </a:ext>
            </a:extLst>
          </p:cNvPr>
          <p:cNvSpPr>
            <a:spLocks noGrp="1" noChangeArrowheads="1"/>
          </p:cNvSpPr>
          <p:nvPr>
            <p:ph type="subTitle" idx="1"/>
          </p:nvPr>
        </p:nvSpPr>
        <p:spPr bwMode="auto">
          <a:xfrm>
            <a:off x="395536" y="2204864"/>
            <a:ext cx="8568952" cy="4193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Know Your Customer (KYC) is an essential process for verifying the identity of users in financial and digital systems.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KYC methods are repetitive, time-consuming, and expose sensitive user data to security risks.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proposes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decentralized KYC sharing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IPFS (InterPlanetary File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enables users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 and share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their KYC documents securely, with full control over who can access them.</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create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tamper-proof, privacy-preserving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solution that improves efficiency and trust in digital identity verification.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Dell\Downloads\WhatsApp Image 2024-02-09 at 3.43.18 PM.jpeg"/>
          <p:cNvPicPr/>
          <p:nvPr/>
        </p:nvPicPr>
        <p:blipFill>
          <a:blip r:embed="rId3" cstate="print"/>
          <a:srcRect b="81474"/>
          <a:stretch>
            <a:fillRect/>
          </a:stretch>
        </p:blipFill>
        <p:spPr bwMode="auto">
          <a:xfrm>
            <a:off x="0" y="0"/>
            <a:ext cx="9144000" cy="1412776"/>
          </a:xfrm>
          <a:prstGeom prst="rect">
            <a:avLst/>
          </a:prstGeom>
          <a:noFill/>
          <a:ln w="9525">
            <a:noFill/>
            <a:miter lim="800000"/>
            <a:headEnd/>
            <a:tailEnd/>
          </a:ln>
        </p:spPr>
      </p:pic>
      <p:sp>
        <p:nvSpPr>
          <p:cNvPr id="5" name="TextBox 4"/>
          <p:cNvSpPr txBox="1"/>
          <p:nvPr/>
        </p:nvSpPr>
        <p:spPr>
          <a:xfrm>
            <a:off x="4716016" y="3933056"/>
            <a:ext cx="4032448" cy="369332"/>
          </a:xfrm>
          <a:prstGeom prst="rect">
            <a:avLst/>
          </a:prstGeom>
          <a:noFill/>
        </p:spPr>
        <p:txBody>
          <a:bodyPr wrap="square" rtlCol="0">
            <a:spAutoFit/>
          </a:bodyPr>
          <a:lstStyle/>
          <a:p>
            <a:endParaRPr lang="en-US" dirty="0"/>
          </a:p>
        </p:txBody>
      </p:sp>
      <p:sp>
        <p:nvSpPr>
          <p:cNvPr id="6" name="Footer Placeholder 5"/>
          <p:cNvSpPr>
            <a:spLocks noGrp="1"/>
          </p:cNvSpPr>
          <p:nvPr>
            <p:ph type="ftr" sz="quarter" idx="11"/>
          </p:nvPr>
        </p:nvSpPr>
        <p:spPr/>
        <p:txBody>
          <a:bodyPr/>
          <a:lstStyle/>
          <a:p>
            <a:r>
              <a:rPr lang="en-US"/>
              <a:t>CSE(AI&amp;ML)-2024-25</a:t>
            </a:r>
          </a:p>
        </p:txBody>
      </p:sp>
      <p:sp>
        <p:nvSpPr>
          <p:cNvPr id="7" name="Title 6"/>
          <p:cNvSpPr>
            <a:spLocks noGrp="1"/>
          </p:cNvSpPr>
          <p:nvPr>
            <p:ph type="ctrTitle"/>
          </p:nvPr>
        </p:nvSpPr>
        <p:spPr>
          <a:xfrm>
            <a:off x="685800" y="2130425"/>
            <a:ext cx="6046440" cy="45719"/>
          </a:xfrm>
        </p:spPr>
        <p:txBody>
          <a:bodyPr>
            <a:normAutofit fontScale="90000"/>
          </a:bodyPr>
          <a:lstStyle/>
          <a:p>
            <a:r>
              <a:rPr lang="en-US" b="1" dirty="0">
                <a:solidFill>
                  <a:schemeClr val="accent1"/>
                </a:solidFill>
                <a:latin typeface="Times New Roman" pitchFamily="18" charset="0"/>
                <a:cs typeface="Times New Roman" pitchFamily="18" charset="0"/>
              </a:rPr>
              <a:t>Problem statement</a:t>
            </a:r>
            <a:br>
              <a:rPr lang="en-US" b="1" dirty="0">
                <a:solidFill>
                  <a:schemeClr val="accent1"/>
                </a:solidFill>
                <a:latin typeface="Times New Roman" pitchFamily="18" charset="0"/>
                <a:cs typeface="Times New Roman" pitchFamily="18" charset="0"/>
              </a:rPr>
            </a:br>
            <a:endParaRPr lang="en-US" dirty="0">
              <a:solidFill>
                <a:schemeClr val="accent1"/>
              </a:solidFill>
            </a:endParaRPr>
          </a:p>
        </p:txBody>
      </p:sp>
      <p:sp>
        <p:nvSpPr>
          <p:cNvPr id="2" name="Subtitle 1">
            <a:extLst>
              <a:ext uri="{FF2B5EF4-FFF2-40B4-BE49-F238E27FC236}">
                <a16:creationId xmlns:a16="http://schemas.microsoft.com/office/drawing/2014/main" id="{0D55DA7D-B784-ED0B-F371-102D12DB7ED2}"/>
              </a:ext>
            </a:extLst>
          </p:cNvPr>
          <p:cNvSpPr>
            <a:spLocks noGrp="1" noChangeArrowheads="1"/>
          </p:cNvSpPr>
          <p:nvPr>
            <p:ph type="subTitle" idx="1"/>
          </p:nvPr>
        </p:nvSpPr>
        <p:spPr bwMode="auto">
          <a:xfrm>
            <a:off x="755576" y="2417016"/>
            <a:ext cx="7560840" cy="3781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KYC processes involve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repeated submission and verification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identity documents across multiple institutions.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leads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duplication, inefficiency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risk of data breaches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have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control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 how their sensitive information is stored and shared.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storage systems are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vulnerable to hacking and tampering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critical need for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user-controlled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share KYC information efficiently and reliably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552" y="2348879"/>
            <a:ext cx="8208912" cy="3626689"/>
          </a:xfrm>
        </p:spPr>
        <p:txBody>
          <a:bodyPr>
            <a:normAutofit fontScale="92500" lnSpcReduction="20000"/>
          </a:bodyPr>
          <a:lstStyle/>
          <a:p>
            <a:pPr marL="285750" indent="-285750" algn="l">
              <a:lnSpc>
                <a:spcPct val="150000"/>
              </a:lnSpc>
              <a:buFont typeface="Wingdings" panose="05000000000000000000" pitchFamily="2" charset="2"/>
              <a:buChar char="Ø"/>
            </a:pPr>
            <a:r>
              <a:rPr lang="en-IN" sz="1800" dirty="0">
                <a:solidFill>
                  <a:schemeClr val="tx1"/>
                </a:solidFill>
                <a:latin typeface="Times New Roman" panose="02020603050405020304" pitchFamily="18" charset="0"/>
                <a:cs typeface="Times New Roman" panose="02020603050405020304" pitchFamily="18" charset="0"/>
              </a:rPr>
              <a:t> </a:t>
            </a:r>
            <a:r>
              <a:rPr lang="en-IN" sz="1900" b="1" dirty="0">
                <a:solidFill>
                  <a:schemeClr val="tx1"/>
                </a:solidFill>
                <a:latin typeface="Times New Roman" panose="02020603050405020304" pitchFamily="18" charset="0"/>
                <a:cs typeface="Times New Roman" panose="02020603050405020304" pitchFamily="18" charset="0"/>
              </a:rPr>
              <a:t>To develop a secure and decentralized platform</a:t>
            </a:r>
            <a:r>
              <a:rPr lang="en-IN" sz="1900" dirty="0">
                <a:solidFill>
                  <a:schemeClr val="tx1"/>
                </a:solidFill>
                <a:latin typeface="Times New Roman" panose="02020603050405020304" pitchFamily="18" charset="0"/>
                <a:cs typeface="Times New Roman" panose="02020603050405020304" pitchFamily="18" charset="0"/>
              </a:rPr>
              <a:t> for storing and sharing KYC documents.</a:t>
            </a:r>
          </a:p>
          <a:p>
            <a:pPr marL="285750" indent="-285750" algn="l">
              <a:lnSpc>
                <a:spcPct val="150000"/>
              </a:lnSpc>
              <a:buFont typeface="Wingdings" panose="05000000000000000000" pitchFamily="2" charset="2"/>
              <a:buChar char="Ø"/>
            </a:pPr>
            <a:r>
              <a:rPr lang="en-IN" sz="1900" dirty="0">
                <a:solidFill>
                  <a:schemeClr val="tx1"/>
                </a:solidFill>
                <a:latin typeface="Times New Roman" panose="02020603050405020304" pitchFamily="18" charset="0"/>
                <a:cs typeface="Times New Roman" panose="02020603050405020304" pitchFamily="18" charset="0"/>
              </a:rPr>
              <a:t> </a:t>
            </a:r>
            <a:r>
              <a:rPr lang="en-IN" sz="1900" b="1" dirty="0">
                <a:solidFill>
                  <a:schemeClr val="tx1"/>
                </a:solidFill>
                <a:latin typeface="Times New Roman" panose="02020603050405020304" pitchFamily="18" charset="0"/>
                <a:cs typeface="Times New Roman" panose="02020603050405020304" pitchFamily="18" charset="0"/>
              </a:rPr>
              <a:t>To ensure user privacy and data ownership</a:t>
            </a:r>
            <a:r>
              <a:rPr lang="en-IN" sz="1900" dirty="0">
                <a:solidFill>
                  <a:schemeClr val="tx1"/>
                </a:solidFill>
                <a:latin typeface="Times New Roman" panose="02020603050405020304" pitchFamily="18" charset="0"/>
                <a:cs typeface="Times New Roman" panose="02020603050405020304" pitchFamily="18" charset="0"/>
              </a:rPr>
              <a:t> using encryption and access control mechanisms.</a:t>
            </a:r>
          </a:p>
          <a:p>
            <a:pPr marL="285750" indent="-285750" algn="l">
              <a:lnSpc>
                <a:spcPct val="150000"/>
              </a:lnSpc>
              <a:buFont typeface="Wingdings" panose="05000000000000000000" pitchFamily="2" charset="2"/>
              <a:buChar char="Ø"/>
            </a:pPr>
            <a:r>
              <a:rPr lang="en-IN" sz="1900" b="1" dirty="0">
                <a:solidFill>
                  <a:schemeClr val="tx1"/>
                </a:solidFill>
                <a:latin typeface="Times New Roman" panose="02020603050405020304" pitchFamily="18" charset="0"/>
                <a:cs typeface="Times New Roman" panose="02020603050405020304" pitchFamily="18" charset="0"/>
              </a:rPr>
              <a:t>To implement blockchain-based smart contracts</a:t>
            </a:r>
            <a:r>
              <a:rPr lang="en-IN" sz="1900" dirty="0">
                <a:solidFill>
                  <a:schemeClr val="tx1"/>
                </a:solidFill>
                <a:latin typeface="Times New Roman" panose="02020603050405020304" pitchFamily="18" charset="0"/>
                <a:cs typeface="Times New Roman" panose="02020603050405020304" pitchFamily="18" charset="0"/>
              </a:rPr>
              <a:t> for transparent and tamper-proof KYC verification.</a:t>
            </a:r>
          </a:p>
          <a:p>
            <a:pPr marL="285750" indent="-285750" algn="l">
              <a:lnSpc>
                <a:spcPct val="150000"/>
              </a:lnSpc>
              <a:buFont typeface="Wingdings" panose="05000000000000000000" pitchFamily="2" charset="2"/>
              <a:buChar char="Ø"/>
            </a:pPr>
            <a:r>
              <a:rPr lang="en-IN" sz="1900" dirty="0">
                <a:solidFill>
                  <a:schemeClr val="tx1"/>
                </a:solidFill>
                <a:latin typeface="Times New Roman" panose="02020603050405020304" pitchFamily="18" charset="0"/>
                <a:cs typeface="Times New Roman" panose="02020603050405020304" pitchFamily="18" charset="0"/>
              </a:rPr>
              <a:t> </a:t>
            </a:r>
            <a:r>
              <a:rPr lang="en-IN" sz="1900" b="1" dirty="0">
                <a:solidFill>
                  <a:schemeClr val="tx1"/>
                </a:solidFill>
                <a:latin typeface="Times New Roman" panose="02020603050405020304" pitchFamily="18" charset="0"/>
                <a:cs typeface="Times New Roman" panose="02020603050405020304" pitchFamily="18" charset="0"/>
              </a:rPr>
              <a:t>To reduce redundancy</a:t>
            </a:r>
            <a:r>
              <a:rPr lang="en-IN" sz="1900" dirty="0">
                <a:solidFill>
                  <a:schemeClr val="tx1"/>
                </a:solidFill>
                <a:latin typeface="Times New Roman" panose="02020603050405020304" pitchFamily="18" charset="0"/>
                <a:cs typeface="Times New Roman" panose="02020603050405020304" pitchFamily="18" charset="0"/>
              </a:rPr>
              <a:t> by enabling one-time KYC submission usable across multiple platforms.</a:t>
            </a:r>
          </a:p>
          <a:p>
            <a:pPr marL="285750" indent="-285750" algn="l">
              <a:lnSpc>
                <a:spcPct val="150000"/>
              </a:lnSpc>
              <a:buFont typeface="Wingdings" panose="05000000000000000000" pitchFamily="2" charset="2"/>
              <a:buChar char="Ø"/>
            </a:pPr>
            <a:r>
              <a:rPr lang="en-IN" sz="1900" b="1" dirty="0">
                <a:solidFill>
                  <a:schemeClr val="tx1"/>
                </a:solidFill>
                <a:latin typeface="Times New Roman" panose="02020603050405020304" pitchFamily="18" charset="0"/>
                <a:cs typeface="Times New Roman" panose="02020603050405020304" pitchFamily="18" charset="0"/>
              </a:rPr>
              <a:t>To improve trust and efficiency</a:t>
            </a:r>
            <a:r>
              <a:rPr lang="en-IN" sz="1900" dirty="0">
                <a:solidFill>
                  <a:schemeClr val="tx1"/>
                </a:solidFill>
                <a:latin typeface="Times New Roman" panose="02020603050405020304" pitchFamily="18" charset="0"/>
                <a:cs typeface="Times New Roman" panose="02020603050405020304" pitchFamily="18" charset="0"/>
              </a:rPr>
              <a:t> in digital identity verification processes.</a:t>
            </a:r>
          </a:p>
          <a:p>
            <a:pPr algn="just"/>
            <a:endParaRPr lang="en-US" sz="1600" b="1" dirty="0">
              <a:solidFill>
                <a:schemeClr val="tx1"/>
              </a:solidFill>
              <a:latin typeface="Times New Roman" pitchFamily="18" charset="0"/>
              <a:cs typeface="Times New Roman" pitchFamily="18" charset="0"/>
            </a:endParaRPr>
          </a:p>
        </p:txBody>
      </p:sp>
      <p:pic>
        <p:nvPicPr>
          <p:cNvPr id="4" name="Picture 3" descr="C:\Users\Dell\Downloads\WhatsApp Image 2024-02-09 at 3.43.18 PM.jpeg"/>
          <p:cNvPicPr/>
          <p:nvPr/>
        </p:nvPicPr>
        <p:blipFill>
          <a:blip r:embed="rId3" cstate="print"/>
          <a:srcRect b="81474"/>
          <a:stretch>
            <a:fillRect/>
          </a:stretch>
        </p:blipFill>
        <p:spPr bwMode="auto">
          <a:xfrm>
            <a:off x="0" y="0"/>
            <a:ext cx="9144000" cy="1412776"/>
          </a:xfrm>
          <a:prstGeom prst="rect">
            <a:avLst/>
          </a:prstGeom>
          <a:noFill/>
          <a:ln w="9525">
            <a:noFill/>
            <a:miter lim="800000"/>
            <a:headEnd/>
            <a:tailEnd/>
          </a:ln>
        </p:spPr>
      </p:pic>
      <p:sp>
        <p:nvSpPr>
          <p:cNvPr id="5" name="TextBox 4"/>
          <p:cNvSpPr txBox="1"/>
          <p:nvPr/>
        </p:nvSpPr>
        <p:spPr>
          <a:xfrm>
            <a:off x="4716016" y="3933056"/>
            <a:ext cx="4032448" cy="369332"/>
          </a:xfrm>
          <a:prstGeom prst="rect">
            <a:avLst/>
          </a:prstGeom>
          <a:noFill/>
        </p:spPr>
        <p:txBody>
          <a:bodyPr wrap="square" rtlCol="0">
            <a:spAutoFit/>
          </a:bodyPr>
          <a:lstStyle/>
          <a:p>
            <a:endParaRPr lang="en-US" dirty="0"/>
          </a:p>
        </p:txBody>
      </p:sp>
      <p:sp>
        <p:nvSpPr>
          <p:cNvPr id="6" name="Footer Placeholder 5"/>
          <p:cNvSpPr>
            <a:spLocks noGrp="1"/>
          </p:cNvSpPr>
          <p:nvPr>
            <p:ph type="ftr" sz="quarter" idx="11"/>
          </p:nvPr>
        </p:nvSpPr>
        <p:spPr/>
        <p:txBody>
          <a:bodyPr/>
          <a:lstStyle/>
          <a:p>
            <a:r>
              <a:rPr lang="en-US"/>
              <a:t>CSE(AI&amp;ML)-2024-25</a:t>
            </a:r>
          </a:p>
        </p:txBody>
      </p:sp>
      <p:sp>
        <p:nvSpPr>
          <p:cNvPr id="7" name="Title 6"/>
          <p:cNvSpPr>
            <a:spLocks noGrp="1"/>
          </p:cNvSpPr>
          <p:nvPr>
            <p:ph type="ctrTitle"/>
          </p:nvPr>
        </p:nvSpPr>
        <p:spPr>
          <a:xfrm>
            <a:off x="685800" y="2130425"/>
            <a:ext cx="6190456" cy="45719"/>
          </a:xfrm>
        </p:spPr>
        <p:txBody>
          <a:bodyPr>
            <a:normAutofit fontScale="90000"/>
          </a:bodyPr>
          <a:lstStyle/>
          <a:p>
            <a:r>
              <a:rPr lang="en-US" b="1" dirty="0">
                <a:solidFill>
                  <a:schemeClr val="accent1"/>
                </a:solidFill>
                <a:latin typeface="Times New Roman" pitchFamily="18" charset="0"/>
                <a:cs typeface="Times New Roman" pitchFamily="18" charset="0"/>
              </a:rPr>
              <a:t>Objectives</a:t>
            </a:r>
            <a:br>
              <a:rPr lang="en-US" b="1" dirty="0">
                <a:solidFill>
                  <a:schemeClr val="accent1"/>
                </a:solidFill>
                <a:latin typeface="Times New Roman" pitchFamily="18" charset="0"/>
                <a:cs typeface="Times New Roman" pitchFamily="18" charset="0"/>
              </a:rPr>
            </a:br>
            <a:endParaRPr lang="en-US" dirty="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95536" y="2564904"/>
            <a:ext cx="7632848" cy="3384376"/>
          </a:xfrm>
        </p:spPr>
        <p:txBody>
          <a:bodyPr>
            <a:normAutofit fontScale="92500" lnSpcReduction="20000"/>
          </a:bodyPr>
          <a:lstStyle/>
          <a:p>
            <a:pPr algn="l">
              <a:lnSpc>
                <a:spcPct val="150000"/>
              </a:lnSpc>
            </a:pPr>
            <a:r>
              <a:rPr lang="en-US" sz="1800" b="1" dirty="0">
                <a:solidFill>
                  <a:schemeClr val="tx1"/>
                </a:solidFill>
                <a:latin typeface="Times New Roman" panose="02020603050405020304" pitchFamily="18" charset="0"/>
                <a:cs typeface="Times New Roman" panose="02020603050405020304" pitchFamily="18" charset="0"/>
              </a:rPr>
              <a:t>🔍 </a:t>
            </a:r>
            <a:r>
              <a:rPr lang="en-US" sz="1900" b="1" dirty="0">
                <a:solidFill>
                  <a:schemeClr val="tx1"/>
                </a:solidFill>
                <a:latin typeface="Times New Roman" panose="02020603050405020304" pitchFamily="18" charset="0"/>
                <a:cs typeface="Times New Roman" panose="02020603050405020304" pitchFamily="18" charset="0"/>
              </a:rPr>
              <a:t>Traditional KYC Systems</a:t>
            </a:r>
          </a:p>
          <a:p>
            <a:pPr marL="285750" indent="-285750" algn="l">
              <a:lnSpc>
                <a:spcPct val="150000"/>
              </a:lnSpc>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Centralized databases</a:t>
            </a:r>
          </a:p>
          <a:p>
            <a:pPr marL="285750" indent="-285750" algn="l">
              <a:lnSpc>
                <a:spcPct val="150000"/>
              </a:lnSpc>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High risk of data breaches</a:t>
            </a:r>
          </a:p>
          <a:p>
            <a:pPr marL="285750" indent="-285750" algn="l">
              <a:lnSpc>
                <a:spcPct val="150000"/>
              </a:lnSpc>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Lack of user control</a:t>
            </a:r>
          </a:p>
          <a:p>
            <a:pPr algn="l">
              <a:lnSpc>
                <a:spcPct val="150000"/>
              </a:lnSpc>
            </a:pPr>
            <a:r>
              <a:rPr lang="en-US" sz="1900" b="1" dirty="0">
                <a:solidFill>
                  <a:schemeClr val="tx1"/>
                </a:solidFill>
                <a:latin typeface="Times New Roman" panose="02020603050405020304" pitchFamily="18" charset="0"/>
                <a:cs typeface="Times New Roman" panose="02020603050405020304" pitchFamily="18" charset="0"/>
              </a:rPr>
              <a:t>🔐 Blockchain in Identity</a:t>
            </a:r>
          </a:p>
          <a:p>
            <a:pPr marL="285750" indent="-285750" algn="l">
              <a:lnSpc>
                <a:spcPct val="150000"/>
              </a:lnSpc>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Decentralized &amp; tamper-proof</a:t>
            </a:r>
          </a:p>
          <a:p>
            <a:pPr marL="285750" indent="-285750" algn="l">
              <a:lnSpc>
                <a:spcPct val="150000"/>
              </a:lnSpc>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Transparent verification</a:t>
            </a:r>
          </a:p>
          <a:p>
            <a:pPr marL="285750" indent="-285750" algn="l">
              <a:lnSpc>
                <a:spcPct val="150000"/>
              </a:lnSpc>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Enhances trust</a:t>
            </a:r>
          </a:p>
          <a:p>
            <a:pPr algn="just"/>
            <a:endParaRPr lang="en-US" sz="1600" b="1" dirty="0">
              <a:solidFill>
                <a:schemeClr val="tx1"/>
              </a:solidFill>
              <a:latin typeface="Times New Roman" pitchFamily="18" charset="0"/>
              <a:cs typeface="Times New Roman" pitchFamily="18" charset="0"/>
            </a:endParaRPr>
          </a:p>
        </p:txBody>
      </p:sp>
      <p:pic>
        <p:nvPicPr>
          <p:cNvPr id="4" name="Picture 3" descr="C:\Users\Dell\Downloads\WhatsApp Image 2024-02-09 at 3.43.18 PM.jpeg"/>
          <p:cNvPicPr/>
          <p:nvPr/>
        </p:nvPicPr>
        <p:blipFill>
          <a:blip r:embed="rId3" cstate="print"/>
          <a:srcRect b="81474"/>
          <a:stretch>
            <a:fillRect/>
          </a:stretch>
        </p:blipFill>
        <p:spPr bwMode="auto">
          <a:xfrm>
            <a:off x="-71756" y="-30394"/>
            <a:ext cx="9144000" cy="1412776"/>
          </a:xfrm>
          <a:prstGeom prst="rect">
            <a:avLst/>
          </a:prstGeom>
          <a:noFill/>
          <a:ln w="9525">
            <a:noFill/>
            <a:miter lim="800000"/>
            <a:headEnd/>
            <a:tailEnd/>
          </a:ln>
        </p:spPr>
      </p:pic>
      <p:sp>
        <p:nvSpPr>
          <p:cNvPr id="6" name="Footer Placeholder 5"/>
          <p:cNvSpPr>
            <a:spLocks noGrp="1"/>
          </p:cNvSpPr>
          <p:nvPr>
            <p:ph type="ftr" sz="quarter" idx="11"/>
          </p:nvPr>
        </p:nvSpPr>
        <p:spPr/>
        <p:txBody>
          <a:bodyPr/>
          <a:lstStyle/>
          <a:p>
            <a:r>
              <a:rPr lang="en-US"/>
              <a:t>CSE(AI&amp;ML)-2024-25</a:t>
            </a:r>
          </a:p>
        </p:txBody>
      </p:sp>
      <p:sp>
        <p:nvSpPr>
          <p:cNvPr id="7" name="Title 6"/>
          <p:cNvSpPr>
            <a:spLocks noGrp="1"/>
          </p:cNvSpPr>
          <p:nvPr>
            <p:ph type="ctrTitle"/>
          </p:nvPr>
        </p:nvSpPr>
        <p:spPr>
          <a:xfrm>
            <a:off x="1979712" y="1581770"/>
            <a:ext cx="5400600" cy="1152128"/>
          </a:xfrm>
        </p:spPr>
        <p:txBody>
          <a:bodyPr>
            <a:normAutofit fontScale="90000"/>
          </a:bodyPr>
          <a:lstStyle/>
          <a:p>
            <a:r>
              <a:rPr lang="en-US" b="1" dirty="0">
                <a:solidFill>
                  <a:schemeClr val="accent1"/>
                </a:solidFill>
                <a:latin typeface="Times New Roman" pitchFamily="18" charset="0"/>
                <a:cs typeface="Times New Roman" pitchFamily="18" charset="0"/>
              </a:rPr>
              <a:t>Literature Survey</a:t>
            </a:r>
            <a:br>
              <a:rPr lang="en-US" b="1" dirty="0">
                <a:solidFill>
                  <a:schemeClr val="tx2"/>
                </a:solidFill>
                <a:latin typeface="Times New Roman" pitchFamily="18" charset="0"/>
                <a:cs typeface="Times New Roman" pitchFamily="18" charset="0"/>
              </a:rPr>
            </a:br>
            <a:endParaRPr lang="en-US" dirty="0">
              <a:solidFill>
                <a:schemeClr val="tx2"/>
              </a:solidFill>
            </a:endParaRPr>
          </a:p>
        </p:txBody>
      </p:sp>
      <p:sp>
        <p:nvSpPr>
          <p:cNvPr id="16" name="TextBox 15">
            <a:extLst>
              <a:ext uri="{FF2B5EF4-FFF2-40B4-BE49-F238E27FC236}">
                <a16:creationId xmlns:a16="http://schemas.microsoft.com/office/drawing/2014/main" id="{D9101CD6-DFAE-C530-21C0-5E0F57F30AAE}"/>
              </a:ext>
            </a:extLst>
          </p:cNvPr>
          <p:cNvSpPr txBox="1"/>
          <p:nvPr/>
        </p:nvSpPr>
        <p:spPr>
          <a:xfrm>
            <a:off x="3635896" y="2441010"/>
            <a:ext cx="5400600" cy="784830"/>
          </a:xfrm>
          <a:prstGeom prst="rect">
            <a:avLst/>
          </a:prstGeom>
          <a:noFill/>
        </p:spPr>
        <p:txBody>
          <a:bodyPr wrap="square" rtlCol="0">
            <a:spAutoFit/>
          </a:bodyPr>
          <a:lstStyle/>
          <a:p>
            <a:pPr>
              <a:lnSpc>
                <a:spcPct val="150000"/>
              </a:lnSpc>
            </a:pPr>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3243-88FD-8944-5F52-CB076171EF3B}"/>
              </a:ext>
            </a:extLst>
          </p:cNvPr>
          <p:cNvSpPr>
            <a:spLocks noGrp="1"/>
          </p:cNvSpPr>
          <p:nvPr>
            <p:ph type="title"/>
          </p:nvPr>
        </p:nvSpPr>
        <p:spPr>
          <a:xfrm rot="10800000" flipV="1">
            <a:off x="287016" y="1595371"/>
            <a:ext cx="8856984" cy="984582"/>
          </a:xfrm>
        </p:spPr>
        <p:txBody>
          <a:bodyPr>
            <a:normAutofit fontScale="90000"/>
          </a:bodyPr>
          <a:lstStyle/>
          <a:p>
            <a:r>
              <a:rPr lang="en-US" b="1" dirty="0">
                <a:solidFill>
                  <a:schemeClr val="accent1"/>
                </a:solidFill>
                <a:latin typeface="Times New Roman" pitchFamily="18" charset="0"/>
                <a:cs typeface="Times New Roman" pitchFamily="18" charset="0"/>
              </a:rPr>
              <a:t>Literature Survey</a:t>
            </a:r>
            <a:br>
              <a:rPr lang="en-US" b="1" dirty="0">
                <a:solidFill>
                  <a:schemeClr val="accent1"/>
                </a:solidFill>
                <a:latin typeface="Times New Roman" pitchFamily="18" charset="0"/>
                <a:cs typeface="Times New Roman" pitchFamily="18" charset="0"/>
              </a:rPr>
            </a:br>
            <a:endParaRPr lang="en-IN" dirty="0">
              <a:solidFill>
                <a:schemeClr val="accent1"/>
              </a:solidFill>
            </a:endParaRPr>
          </a:p>
        </p:txBody>
      </p:sp>
      <p:sp>
        <p:nvSpPr>
          <p:cNvPr id="3" name="Content Placeholder 2">
            <a:extLst>
              <a:ext uri="{FF2B5EF4-FFF2-40B4-BE49-F238E27FC236}">
                <a16:creationId xmlns:a16="http://schemas.microsoft.com/office/drawing/2014/main" id="{5586F48E-F999-A3F1-CDA9-0691C5B34789}"/>
              </a:ext>
            </a:extLst>
          </p:cNvPr>
          <p:cNvSpPr>
            <a:spLocks noGrp="1"/>
          </p:cNvSpPr>
          <p:nvPr>
            <p:ph idx="1"/>
          </p:nvPr>
        </p:nvSpPr>
        <p:spPr>
          <a:xfrm>
            <a:off x="251520" y="2636912"/>
            <a:ext cx="4320480" cy="3489251"/>
          </a:xfrm>
        </p:spPr>
        <p:txBody>
          <a:bodyPr>
            <a:normAutofit fontScale="92500" lnSpcReduction="20000"/>
          </a:bodyPr>
          <a:lstStyle/>
          <a:p>
            <a:pPr marL="0" indent="0">
              <a:lnSpc>
                <a:spcPct val="150000"/>
              </a:lnSpc>
              <a:buNone/>
            </a:pPr>
            <a:r>
              <a:rPr lang="en-US" sz="1900" b="1" dirty="0">
                <a:latin typeface="Times New Roman" panose="02020603050405020304" pitchFamily="18" charset="0"/>
                <a:cs typeface="Times New Roman" panose="02020603050405020304" pitchFamily="18" charset="0"/>
              </a:rPr>
              <a:t>☁️ IPFS Storage</a:t>
            </a:r>
          </a:p>
          <a:p>
            <a:pPr marL="285750" indent="-285750">
              <a:lnSpc>
                <a:spcPct val="150000"/>
              </a:lnSpc>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Distributed file system</a:t>
            </a:r>
          </a:p>
          <a:p>
            <a:pPr marL="285750" indent="-285750">
              <a:lnSpc>
                <a:spcPct val="150000"/>
              </a:lnSpc>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Secure, scalable, and efficient</a:t>
            </a:r>
          </a:p>
          <a:p>
            <a:pPr marL="285750" indent="-285750">
              <a:lnSpc>
                <a:spcPct val="150000"/>
              </a:lnSpc>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Ideal for storing KYC documents</a:t>
            </a:r>
          </a:p>
          <a:p>
            <a:pPr marL="0" indent="0">
              <a:lnSpc>
                <a:spcPct val="150000"/>
              </a:lnSpc>
              <a:buNone/>
            </a:pPr>
            <a:r>
              <a:rPr lang="en-US" sz="1900" b="1" dirty="0">
                <a:latin typeface="Times New Roman" panose="02020603050405020304" pitchFamily="18" charset="0"/>
                <a:cs typeface="Times New Roman" panose="02020603050405020304" pitchFamily="18" charset="0"/>
              </a:rPr>
              <a:t>⚙️ Smart Contracts</a:t>
            </a:r>
          </a:p>
          <a:p>
            <a:pPr marL="285750" indent="-285750">
              <a:lnSpc>
                <a:spcPct val="150000"/>
              </a:lnSpc>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Automate KYC access control</a:t>
            </a:r>
          </a:p>
          <a:p>
            <a:pPr marL="285750" indent="-285750">
              <a:lnSpc>
                <a:spcPct val="150000"/>
              </a:lnSpc>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Ensure data integrity and auditability</a:t>
            </a:r>
          </a:p>
          <a:p>
            <a:pPr marL="285750" indent="-285750">
              <a:lnSpc>
                <a:spcPct val="150000"/>
              </a:lnSpc>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Reduce manual effort</a:t>
            </a:r>
          </a:p>
          <a:p>
            <a:endParaRPr lang="en-IN" dirty="0"/>
          </a:p>
        </p:txBody>
      </p:sp>
      <p:sp>
        <p:nvSpPr>
          <p:cNvPr id="4" name="Footer Placeholder 3">
            <a:extLst>
              <a:ext uri="{FF2B5EF4-FFF2-40B4-BE49-F238E27FC236}">
                <a16:creationId xmlns:a16="http://schemas.microsoft.com/office/drawing/2014/main" id="{401FD6E4-76AD-D05D-4DE5-BF2450AFBC03}"/>
              </a:ext>
            </a:extLst>
          </p:cNvPr>
          <p:cNvSpPr>
            <a:spLocks noGrp="1"/>
          </p:cNvSpPr>
          <p:nvPr>
            <p:ph type="ftr" sz="quarter" idx="11"/>
          </p:nvPr>
        </p:nvSpPr>
        <p:spPr/>
        <p:txBody>
          <a:bodyPr/>
          <a:lstStyle/>
          <a:p>
            <a:r>
              <a:rPr lang="en-US"/>
              <a:t>CSE(AI&amp;ML)-2024-25</a:t>
            </a:r>
          </a:p>
        </p:txBody>
      </p:sp>
      <p:sp>
        <p:nvSpPr>
          <p:cNvPr id="5" name="TextBox 4">
            <a:extLst>
              <a:ext uri="{FF2B5EF4-FFF2-40B4-BE49-F238E27FC236}">
                <a16:creationId xmlns:a16="http://schemas.microsoft.com/office/drawing/2014/main" id="{82F8E3A4-21D4-316D-FDE9-8F764AC9FA18}"/>
              </a:ext>
            </a:extLst>
          </p:cNvPr>
          <p:cNvSpPr txBox="1"/>
          <p:nvPr/>
        </p:nvSpPr>
        <p:spPr>
          <a:xfrm>
            <a:off x="4572000" y="2924944"/>
            <a:ext cx="3744416" cy="244682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 Research Insight</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Combines security, privacy, and efficiency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Reduces data duplication</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Streamlines onboarding process</a:t>
            </a:r>
          </a:p>
          <a:p>
            <a:endParaRPr lang="en-IN" dirty="0"/>
          </a:p>
        </p:txBody>
      </p:sp>
      <p:pic>
        <p:nvPicPr>
          <p:cNvPr id="6" name="Picture 5">
            <a:extLst>
              <a:ext uri="{FF2B5EF4-FFF2-40B4-BE49-F238E27FC236}">
                <a16:creationId xmlns:a16="http://schemas.microsoft.com/office/drawing/2014/main" id="{D535A8AC-1E82-E473-9485-513649C8477E}"/>
              </a:ext>
            </a:extLst>
          </p:cNvPr>
          <p:cNvPicPr>
            <a:picLocks noChangeAspect="1"/>
          </p:cNvPicPr>
          <p:nvPr/>
        </p:nvPicPr>
        <p:blipFill>
          <a:blip r:embed="rId2"/>
          <a:stretch>
            <a:fillRect/>
          </a:stretch>
        </p:blipFill>
        <p:spPr>
          <a:xfrm>
            <a:off x="0" y="24701"/>
            <a:ext cx="9144000" cy="1414272"/>
          </a:xfrm>
          <a:prstGeom prst="rect">
            <a:avLst/>
          </a:prstGeom>
        </p:spPr>
      </p:pic>
    </p:spTree>
    <p:extLst>
      <p:ext uri="{BB962C8B-B14F-4D97-AF65-F5344CB8AC3E}">
        <p14:creationId xmlns:p14="http://schemas.microsoft.com/office/powerpoint/2010/main" val="3167146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A4A0CA-AF5B-69D6-9682-5E7AFD95BF66}"/>
              </a:ext>
            </a:extLst>
          </p:cNvPr>
          <p:cNvPicPr>
            <a:picLocks noChangeAspect="1"/>
          </p:cNvPicPr>
          <p:nvPr/>
        </p:nvPicPr>
        <p:blipFill>
          <a:blip r:embed="rId2"/>
          <a:stretch>
            <a:fillRect/>
          </a:stretch>
        </p:blipFill>
        <p:spPr>
          <a:xfrm>
            <a:off x="-8650" y="24701"/>
            <a:ext cx="9144000" cy="1414272"/>
          </a:xfrm>
          <a:prstGeom prst="rect">
            <a:avLst/>
          </a:prstGeom>
        </p:spPr>
      </p:pic>
      <p:sp>
        <p:nvSpPr>
          <p:cNvPr id="2" name="Title 1">
            <a:extLst>
              <a:ext uri="{FF2B5EF4-FFF2-40B4-BE49-F238E27FC236}">
                <a16:creationId xmlns:a16="http://schemas.microsoft.com/office/drawing/2014/main" id="{33DED797-5A59-5093-1073-565D15DC35FA}"/>
              </a:ext>
            </a:extLst>
          </p:cNvPr>
          <p:cNvSpPr>
            <a:spLocks noGrp="1"/>
          </p:cNvSpPr>
          <p:nvPr>
            <p:ph type="title"/>
          </p:nvPr>
        </p:nvSpPr>
        <p:spPr>
          <a:xfrm rot="10800000" flipV="1">
            <a:off x="1547664" y="1268761"/>
            <a:ext cx="4472136" cy="1126468"/>
          </a:xfrm>
        </p:spPr>
        <p:txBody>
          <a:bodyPr>
            <a:normAutofit/>
          </a:bodyPr>
          <a:lstStyle/>
          <a:p>
            <a:r>
              <a:rPr lang="en-US" sz="4000" b="1" dirty="0">
                <a:solidFill>
                  <a:schemeClr val="accent1"/>
                </a:solidFill>
                <a:latin typeface="Times New Roman" pitchFamily="18" charset="0"/>
                <a:cs typeface="Times New Roman" pitchFamily="18" charset="0"/>
              </a:rPr>
              <a:t>System Analysis</a:t>
            </a:r>
            <a:endParaRPr lang="en-IN" sz="4000" dirty="0">
              <a:solidFill>
                <a:schemeClr val="accent1"/>
              </a:solidFill>
            </a:endParaRPr>
          </a:p>
        </p:txBody>
      </p:sp>
      <p:sp>
        <p:nvSpPr>
          <p:cNvPr id="3" name="Content Placeholder 2">
            <a:extLst>
              <a:ext uri="{FF2B5EF4-FFF2-40B4-BE49-F238E27FC236}">
                <a16:creationId xmlns:a16="http://schemas.microsoft.com/office/drawing/2014/main" id="{829F6183-FE5B-6064-6ECA-AE48D999E2E8}"/>
              </a:ext>
            </a:extLst>
          </p:cNvPr>
          <p:cNvSpPr>
            <a:spLocks noGrp="1"/>
          </p:cNvSpPr>
          <p:nvPr>
            <p:ph idx="1"/>
          </p:nvPr>
        </p:nvSpPr>
        <p:spPr>
          <a:xfrm>
            <a:off x="179512" y="2553407"/>
            <a:ext cx="4896544" cy="3644764"/>
          </a:xfrm>
        </p:spPr>
        <p:txBody>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 Existing System</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Centralized KYC processes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Repetitive document submission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High risk of data leaks and manipulation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No user control over data access</a:t>
            </a:r>
          </a:p>
          <a:p>
            <a:endParaRPr lang="en-IN" dirty="0"/>
          </a:p>
        </p:txBody>
      </p:sp>
      <p:sp>
        <p:nvSpPr>
          <p:cNvPr id="4" name="Footer Placeholder 3">
            <a:extLst>
              <a:ext uri="{FF2B5EF4-FFF2-40B4-BE49-F238E27FC236}">
                <a16:creationId xmlns:a16="http://schemas.microsoft.com/office/drawing/2014/main" id="{A2F3342B-9A90-C6B5-6290-AFF99BEF8149}"/>
              </a:ext>
            </a:extLst>
          </p:cNvPr>
          <p:cNvSpPr>
            <a:spLocks noGrp="1"/>
          </p:cNvSpPr>
          <p:nvPr>
            <p:ph type="ftr" sz="quarter" idx="11"/>
          </p:nvPr>
        </p:nvSpPr>
        <p:spPr/>
        <p:txBody>
          <a:bodyPr/>
          <a:lstStyle/>
          <a:p>
            <a:r>
              <a:rPr lang="en-US"/>
              <a:t>CSE(AI&amp;ML)-2024-25</a:t>
            </a:r>
          </a:p>
        </p:txBody>
      </p:sp>
      <p:sp>
        <p:nvSpPr>
          <p:cNvPr id="7" name="TextBox 6">
            <a:extLst>
              <a:ext uri="{FF2B5EF4-FFF2-40B4-BE49-F238E27FC236}">
                <a16:creationId xmlns:a16="http://schemas.microsoft.com/office/drawing/2014/main" id="{947C1455-4CC2-5A2B-4BB3-E8A09ED858B5}"/>
              </a:ext>
            </a:extLst>
          </p:cNvPr>
          <p:cNvSpPr txBox="1"/>
          <p:nvPr/>
        </p:nvSpPr>
        <p:spPr>
          <a:xfrm>
            <a:off x="4572000" y="2795092"/>
            <a:ext cx="4176464" cy="244682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 Limitations of Existing System</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Time-consuming verification</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Costly for institutions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Lack of transparency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Vulnerable to single-point failure</a:t>
            </a:r>
          </a:p>
          <a:p>
            <a:endParaRPr lang="en-IN" dirty="0"/>
          </a:p>
        </p:txBody>
      </p:sp>
    </p:spTree>
    <p:extLst>
      <p:ext uri="{BB962C8B-B14F-4D97-AF65-F5344CB8AC3E}">
        <p14:creationId xmlns:p14="http://schemas.microsoft.com/office/powerpoint/2010/main" val="2934464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4411-9483-3ECA-A201-AEFC45076D0C}"/>
              </a:ext>
            </a:extLst>
          </p:cNvPr>
          <p:cNvSpPr>
            <a:spLocks noGrp="1"/>
          </p:cNvSpPr>
          <p:nvPr>
            <p:ph type="title"/>
          </p:nvPr>
        </p:nvSpPr>
        <p:spPr>
          <a:xfrm>
            <a:off x="395536" y="1438973"/>
            <a:ext cx="7848872" cy="621875"/>
          </a:xfrm>
        </p:spPr>
        <p:txBody>
          <a:bodyPr>
            <a:normAutofit fontScale="90000"/>
          </a:bodyPr>
          <a:lstStyle/>
          <a:p>
            <a:r>
              <a:rPr lang="en-US" b="1" dirty="0">
                <a:solidFill>
                  <a:schemeClr val="tx2"/>
                </a:solidFill>
                <a:latin typeface="Times New Roman" pitchFamily="18" charset="0"/>
                <a:cs typeface="Times New Roman" pitchFamily="18" charset="0"/>
              </a:rPr>
              <a:t>System Analysis</a:t>
            </a:r>
            <a:endParaRPr lang="en-IN" dirty="0"/>
          </a:p>
        </p:txBody>
      </p:sp>
      <p:sp>
        <p:nvSpPr>
          <p:cNvPr id="3" name="Content Placeholder 2">
            <a:extLst>
              <a:ext uri="{FF2B5EF4-FFF2-40B4-BE49-F238E27FC236}">
                <a16:creationId xmlns:a16="http://schemas.microsoft.com/office/drawing/2014/main" id="{E1C6833F-E150-E454-AD65-3DDFD891D8C4}"/>
              </a:ext>
            </a:extLst>
          </p:cNvPr>
          <p:cNvSpPr>
            <a:spLocks noGrp="1"/>
          </p:cNvSpPr>
          <p:nvPr>
            <p:ph idx="1"/>
          </p:nvPr>
        </p:nvSpPr>
        <p:spPr>
          <a:xfrm>
            <a:off x="539552" y="2492895"/>
            <a:ext cx="4032448" cy="3672408"/>
          </a:xfrm>
        </p:spPr>
        <p:txBody>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Proposed System</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Blockchain-based identity sharing</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One-time KYC upload with controlled access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Encrypted document storage on IPFS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Smart contracts for secure, transparent approval</a:t>
            </a:r>
          </a:p>
          <a:p>
            <a:pPr>
              <a:lnSpc>
                <a:spcPct val="150000"/>
              </a:lnSpc>
            </a:pPr>
            <a:endParaRPr lang="en-IN" dirty="0"/>
          </a:p>
        </p:txBody>
      </p:sp>
      <p:sp>
        <p:nvSpPr>
          <p:cNvPr id="4" name="Footer Placeholder 3">
            <a:extLst>
              <a:ext uri="{FF2B5EF4-FFF2-40B4-BE49-F238E27FC236}">
                <a16:creationId xmlns:a16="http://schemas.microsoft.com/office/drawing/2014/main" id="{68F72C28-9682-7303-6A6F-6A5E7FCB26A1}"/>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35355DD9-2277-5DB3-205F-CFC6F5E360A1}"/>
              </a:ext>
            </a:extLst>
          </p:cNvPr>
          <p:cNvPicPr>
            <a:picLocks noChangeAspect="1"/>
          </p:cNvPicPr>
          <p:nvPr/>
        </p:nvPicPr>
        <p:blipFill>
          <a:blip r:embed="rId2"/>
          <a:stretch>
            <a:fillRect/>
          </a:stretch>
        </p:blipFill>
        <p:spPr>
          <a:xfrm>
            <a:off x="1754" y="24701"/>
            <a:ext cx="9144000" cy="1414272"/>
          </a:xfrm>
          <a:prstGeom prst="rect">
            <a:avLst/>
          </a:prstGeom>
        </p:spPr>
      </p:pic>
      <p:sp>
        <p:nvSpPr>
          <p:cNvPr id="6" name="TextBox 5">
            <a:extLst>
              <a:ext uri="{FF2B5EF4-FFF2-40B4-BE49-F238E27FC236}">
                <a16:creationId xmlns:a16="http://schemas.microsoft.com/office/drawing/2014/main" id="{96BAC11D-1469-65E9-0F16-213DB3561470}"/>
              </a:ext>
            </a:extLst>
          </p:cNvPr>
          <p:cNvSpPr txBox="1"/>
          <p:nvPr/>
        </p:nvSpPr>
        <p:spPr>
          <a:xfrm>
            <a:off x="4932040" y="2492895"/>
            <a:ext cx="3528392" cy="244682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Benefits of Proposed System</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Decentralized &amp; tamper-resistant</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User-controlled sharing</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Improved efficiency &amp; trust</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Lower cost &amp; redundancy</a:t>
            </a:r>
          </a:p>
          <a:p>
            <a:endParaRPr lang="en-IN" dirty="0"/>
          </a:p>
        </p:txBody>
      </p:sp>
    </p:spTree>
    <p:extLst>
      <p:ext uri="{BB962C8B-B14F-4D97-AF65-F5344CB8AC3E}">
        <p14:creationId xmlns:p14="http://schemas.microsoft.com/office/powerpoint/2010/main" val="4277945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2D0E-35FE-9D87-2796-6F473A73D154}"/>
              </a:ext>
            </a:extLst>
          </p:cNvPr>
          <p:cNvSpPr>
            <a:spLocks noGrp="1"/>
          </p:cNvSpPr>
          <p:nvPr>
            <p:ph type="title"/>
          </p:nvPr>
        </p:nvSpPr>
        <p:spPr>
          <a:xfrm>
            <a:off x="683568" y="1556792"/>
            <a:ext cx="7272808" cy="1152128"/>
          </a:xfrm>
        </p:spPr>
        <p:txBody>
          <a:bodyPr>
            <a:normAutofit fontScale="90000"/>
          </a:bodyPr>
          <a:lstStyle/>
          <a:p>
            <a:r>
              <a:rPr lang="en-IN" b="1" dirty="0">
                <a:solidFill>
                  <a:schemeClr val="accent1"/>
                </a:solidFill>
                <a:latin typeface="Times New Roman" panose="02020603050405020304" pitchFamily="18" charset="0"/>
                <a:cs typeface="Times New Roman" panose="02020603050405020304" pitchFamily="18" charset="0"/>
              </a:rPr>
              <a:t>System Design</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616D0D-3A43-2E30-B7D7-629DDEC834BA}"/>
              </a:ext>
            </a:extLst>
          </p:cNvPr>
          <p:cNvSpPr>
            <a:spLocks noGrp="1"/>
          </p:cNvSpPr>
          <p:nvPr>
            <p:ph idx="1"/>
          </p:nvPr>
        </p:nvSpPr>
        <p:spPr>
          <a:xfrm>
            <a:off x="395536" y="2132856"/>
            <a:ext cx="8424936" cy="4104456"/>
          </a:xfrm>
        </p:spPr>
        <p:txBody>
          <a:bodyPr>
            <a:normAutofit fontScale="25000" lnSpcReduction="20000"/>
          </a:bodyPr>
          <a:lstStyle/>
          <a:p>
            <a:pPr marL="0" indent="0">
              <a:buNone/>
            </a:pPr>
            <a:endParaRPr lang="en-IN" b="1" dirty="0"/>
          </a:p>
          <a:p>
            <a:pPr marL="0" indent="0">
              <a:lnSpc>
                <a:spcPct val="170000"/>
              </a:lnSpc>
              <a:buNone/>
            </a:pPr>
            <a:r>
              <a:rPr lang="en-IN" sz="7200" b="1" dirty="0">
                <a:latin typeface="Times New Roman" panose="02020603050405020304" pitchFamily="18" charset="0"/>
                <a:cs typeface="Times New Roman" panose="02020603050405020304" pitchFamily="18" charset="0"/>
              </a:rPr>
              <a:t>🧩 Key Components</a:t>
            </a:r>
          </a:p>
          <a:p>
            <a:pPr>
              <a:lnSpc>
                <a:spcPct val="17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User Interface (Frontend):</a:t>
            </a:r>
            <a:br>
              <a:rPr lang="en-IN" sz="7200" dirty="0">
                <a:latin typeface="Times New Roman" panose="02020603050405020304" pitchFamily="18" charset="0"/>
                <a:cs typeface="Times New Roman" panose="02020603050405020304" pitchFamily="18" charset="0"/>
              </a:rPr>
            </a:br>
            <a:r>
              <a:rPr lang="en-IN" sz="7200" dirty="0">
                <a:latin typeface="Times New Roman" panose="02020603050405020304" pitchFamily="18" charset="0"/>
                <a:cs typeface="Times New Roman" panose="02020603050405020304" pitchFamily="18" charset="0"/>
              </a:rPr>
              <a:t>Allows users to register, upload KYC, and give access permissions.</a:t>
            </a:r>
          </a:p>
          <a:p>
            <a:pPr>
              <a:lnSpc>
                <a:spcPct val="17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Smart Contracts (Blockchain Layer):</a:t>
            </a:r>
            <a:br>
              <a:rPr lang="en-IN" sz="7200" dirty="0">
                <a:latin typeface="Times New Roman" panose="02020603050405020304" pitchFamily="18" charset="0"/>
                <a:cs typeface="Times New Roman" panose="02020603050405020304" pitchFamily="18" charset="0"/>
              </a:rPr>
            </a:br>
            <a:r>
              <a:rPr lang="en-IN" sz="7200" dirty="0">
                <a:latin typeface="Times New Roman" panose="02020603050405020304" pitchFamily="18" charset="0"/>
                <a:cs typeface="Times New Roman" panose="02020603050405020304" pitchFamily="18" charset="0"/>
              </a:rPr>
              <a:t>Handles access control, verification status, and permission tracking.</a:t>
            </a:r>
          </a:p>
          <a:p>
            <a:pPr>
              <a:lnSpc>
                <a:spcPct val="17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IPFS (Storage Layer):</a:t>
            </a:r>
            <a:br>
              <a:rPr lang="en-IN" sz="7200" dirty="0">
                <a:latin typeface="Times New Roman" panose="02020603050405020304" pitchFamily="18" charset="0"/>
                <a:cs typeface="Times New Roman" panose="02020603050405020304" pitchFamily="18" charset="0"/>
              </a:rPr>
            </a:br>
            <a:r>
              <a:rPr lang="en-IN" sz="7200" dirty="0">
                <a:latin typeface="Times New Roman" panose="02020603050405020304" pitchFamily="18" charset="0"/>
                <a:cs typeface="Times New Roman" panose="02020603050405020304" pitchFamily="18" charset="0"/>
              </a:rPr>
              <a:t>Stores encrypted KYC documents in a decentralized way.</a:t>
            </a:r>
          </a:p>
          <a:p>
            <a:pPr>
              <a:lnSpc>
                <a:spcPct val="17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Verifier Dashboard:</a:t>
            </a:r>
            <a:br>
              <a:rPr lang="en-IN" sz="7200" dirty="0">
                <a:latin typeface="Times New Roman" panose="02020603050405020304" pitchFamily="18" charset="0"/>
                <a:cs typeface="Times New Roman" panose="02020603050405020304" pitchFamily="18" charset="0"/>
              </a:rPr>
            </a:br>
            <a:r>
              <a:rPr lang="en-IN" sz="7200" dirty="0">
                <a:latin typeface="Times New Roman" panose="02020603050405020304" pitchFamily="18" charset="0"/>
                <a:cs typeface="Times New Roman" panose="02020603050405020304" pitchFamily="18" charset="0"/>
              </a:rPr>
              <a:t>Enables institutions to request and verify user KYC with consent.</a:t>
            </a:r>
          </a:p>
          <a:p>
            <a:endParaRPr lang="en-IN" dirty="0"/>
          </a:p>
        </p:txBody>
      </p:sp>
      <p:sp>
        <p:nvSpPr>
          <p:cNvPr id="4" name="Footer Placeholder 3">
            <a:extLst>
              <a:ext uri="{FF2B5EF4-FFF2-40B4-BE49-F238E27FC236}">
                <a16:creationId xmlns:a16="http://schemas.microsoft.com/office/drawing/2014/main" id="{A616CDA2-0A27-A7D6-49C4-5E172D7F21E2}"/>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32CE3821-A122-EB37-1230-D2E84CB9C05B}"/>
              </a:ext>
            </a:extLst>
          </p:cNvPr>
          <p:cNvPicPr>
            <a:picLocks noChangeAspect="1"/>
          </p:cNvPicPr>
          <p:nvPr/>
        </p:nvPicPr>
        <p:blipFill>
          <a:blip r:embed="rId2"/>
          <a:stretch>
            <a:fillRect/>
          </a:stretch>
        </p:blipFill>
        <p:spPr>
          <a:xfrm>
            <a:off x="0" y="24701"/>
            <a:ext cx="9144000" cy="1414272"/>
          </a:xfrm>
          <a:prstGeom prst="rect">
            <a:avLst/>
          </a:prstGeom>
        </p:spPr>
      </p:pic>
    </p:spTree>
    <p:extLst>
      <p:ext uri="{BB962C8B-B14F-4D97-AF65-F5344CB8AC3E}">
        <p14:creationId xmlns:p14="http://schemas.microsoft.com/office/powerpoint/2010/main" val="3255989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93629-E9E7-2AA5-A551-518081AD479F}"/>
              </a:ext>
            </a:extLst>
          </p:cNvPr>
          <p:cNvSpPr>
            <a:spLocks noGrp="1"/>
          </p:cNvSpPr>
          <p:nvPr>
            <p:ph type="title"/>
          </p:nvPr>
        </p:nvSpPr>
        <p:spPr>
          <a:xfrm>
            <a:off x="323528" y="1196752"/>
            <a:ext cx="8363272" cy="1080120"/>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chemeClr val="accent1"/>
                </a:solidFill>
                <a:latin typeface="Times New Roman" panose="02020603050405020304" pitchFamily="18" charset="0"/>
                <a:cs typeface="Times New Roman" panose="02020603050405020304" pitchFamily="18" charset="0"/>
              </a:rPr>
              <a:t>Architecture</a:t>
            </a:r>
            <a:endParaRPr lang="en-IN" dirty="0">
              <a:solidFill>
                <a:schemeClr val="accent1"/>
              </a:solidFill>
            </a:endParaRPr>
          </a:p>
        </p:txBody>
      </p:sp>
      <p:sp>
        <p:nvSpPr>
          <p:cNvPr id="3" name="Content Placeholder 2">
            <a:extLst>
              <a:ext uri="{FF2B5EF4-FFF2-40B4-BE49-F238E27FC236}">
                <a16:creationId xmlns:a16="http://schemas.microsoft.com/office/drawing/2014/main" id="{DA329FD0-323F-8E4F-6974-4AB4C5267E1F}"/>
              </a:ext>
            </a:extLst>
          </p:cNvPr>
          <p:cNvSpPr>
            <a:spLocks noGrp="1"/>
          </p:cNvSpPr>
          <p:nvPr>
            <p:ph idx="1"/>
          </p:nvPr>
        </p:nvSpPr>
        <p:spPr>
          <a:xfrm>
            <a:off x="323528" y="2348881"/>
            <a:ext cx="4896544" cy="2664296"/>
          </a:xfrm>
        </p:spPr>
        <p:txBody>
          <a:bodyPr/>
          <a:lstStyle/>
          <a:p>
            <a:pPr marL="0" indent="0">
              <a:lnSpc>
                <a:spcPct val="150000"/>
              </a:lnSpc>
              <a:buNone/>
            </a:pPr>
            <a:r>
              <a:rPr lang="en-IN" sz="1800" dirty="0">
                <a:latin typeface="Times New Roman" panose="02020603050405020304" pitchFamily="18" charset="0"/>
                <a:cs typeface="Times New Roman" panose="02020603050405020304" pitchFamily="18" charset="0"/>
              </a:rPr>
              <a:t>User → Upload KYC → Encrypt &amp; Store on IPFS  </a:t>
            </a:r>
          </a:p>
          <a:p>
            <a:pPr marL="0" indent="0">
              <a:lnSpc>
                <a:spcPct val="150000"/>
              </a:lnSpc>
              <a:buNone/>
            </a:pPr>
            <a:r>
              <a:rPr lang="en-IN" sz="1800" dirty="0">
                <a:latin typeface="Times New Roman" panose="02020603050405020304" pitchFamily="18" charset="0"/>
                <a:cs typeface="Times New Roman" panose="02020603050405020304" pitchFamily="18" charset="0"/>
              </a:rPr>
              <a:t>     ↓  </a:t>
            </a:r>
          </a:p>
          <a:p>
            <a:pPr marL="0" indent="0">
              <a:lnSpc>
                <a:spcPct val="150000"/>
              </a:lnSpc>
              <a:buNone/>
            </a:pPr>
            <a:r>
              <a:rPr lang="en-IN" sz="1800" dirty="0">
                <a:latin typeface="Times New Roman" panose="02020603050405020304" pitchFamily="18" charset="0"/>
                <a:cs typeface="Times New Roman" panose="02020603050405020304" pitchFamily="18" charset="0"/>
              </a:rPr>
              <a:t>Smart Contract ← Request Access ← Verifier  </a:t>
            </a:r>
          </a:p>
          <a:p>
            <a:pPr marL="0" indent="0">
              <a:lnSpc>
                <a:spcPct val="150000"/>
              </a:lnSpc>
              <a:buNone/>
            </a:pPr>
            <a:r>
              <a:rPr lang="en-IN" sz="1800" dirty="0">
                <a:latin typeface="Times New Roman" panose="02020603050405020304" pitchFamily="18" charset="0"/>
                <a:cs typeface="Times New Roman" panose="02020603050405020304" pitchFamily="18" charset="0"/>
              </a:rPr>
              <a:t>     ↓  </a:t>
            </a:r>
          </a:p>
          <a:p>
            <a:pPr marL="0" indent="0">
              <a:lnSpc>
                <a:spcPct val="150000"/>
              </a:lnSpc>
              <a:buNone/>
            </a:pPr>
            <a:r>
              <a:rPr lang="en-IN" sz="1800" dirty="0">
                <a:latin typeface="Times New Roman" panose="02020603050405020304" pitchFamily="18" charset="0"/>
                <a:cs typeface="Times New Roman" panose="02020603050405020304" pitchFamily="18" charset="0"/>
              </a:rPr>
              <a:t>Verify Permissions → Access KYC from IPFS</a:t>
            </a:r>
          </a:p>
          <a:p>
            <a:endParaRPr lang="en-IN" dirty="0"/>
          </a:p>
        </p:txBody>
      </p:sp>
      <p:sp>
        <p:nvSpPr>
          <p:cNvPr id="4" name="Footer Placeholder 3">
            <a:extLst>
              <a:ext uri="{FF2B5EF4-FFF2-40B4-BE49-F238E27FC236}">
                <a16:creationId xmlns:a16="http://schemas.microsoft.com/office/drawing/2014/main" id="{04DE5C46-8F03-1A54-AED7-A5A3AD1014CC}"/>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C414B269-AF53-C9A2-EE03-EF24B625D855}"/>
              </a:ext>
            </a:extLst>
          </p:cNvPr>
          <p:cNvPicPr>
            <a:picLocks noChangeAspect="1"/>
          </p:cNvPicPr>
          <p:nvPr/>
        </p:nvPicPr>
        <p:blipFill>
          <a:blip r:embed="rId2"/>
          <a:stretch>
            <a:fillRect/>
          </a:stretch>
        </p:blipFill>
        <p:spPr>
          <a:xfrm>
            <a:off x="0" y="0"/>
            <a:ext cx="9144000" cy="1414272"/>
          </a:xfrm>
          <a:prstGeom prst="rect">
            <a:avLst/>
          </a:prstGeom>
        </p:spPr>
      </p:pic>
      <p:sp>
        <p:nvSpPr>
          <p:cNvPr id="6" name="TextBox 5">
            <a:extLst>
              <a:ext uri="{FF2B5EF4-FFF2-40B4-BE49-F238E27FC236}">
                <a16:creationId xmlns:a16="http://schemas.microsoft.com/office/drawing/2014/main" id="{41C7F63F-14FC-A60E-951B-9962573960D6}"/>
              </a:ext>
            </a:extLst>
          </p:cNvPr>
          <p:cNvSpPr txBox="1"/>
          <p:nvPr/>
        </p:nvSpPr>
        <p:spPr>
          <a:xfrm>
            <a:off x="5652120" y="2276872"/>
            <a:ext cx="3168352" cy="3277820"/>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Security Features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End-to-end encryption of documents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Blockchain immutability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Permissioned data access only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central point of failure</a:t>
            </a:r>
          </a:p>
          <a:p>
            <a:endParaRPr lang="en-IN" dirty="0"/>
          </a:p>
        </p:txBody>
      </p:sp>
    </p:spTree>
    <p:extLst>
      <p:ext uri="{BB962C8B-B14F-4D97-AF65-F5344CB8AC3E}">
        <p14:creationId xmlns:p14="http://schemas.microsoft.com/office/powerpoint/2010/main" val="2189893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A1479-248F-C39A-1AF9-17BACB66A661}"/>
              </a:ext>
            </a:extLst>
          </p:cNvPr>
          <p:cNvSpPr>
            <a:spLocks noGrp="1"/>
          </p:cNvSpPr>
          <p:nvPr>
            <p:ph type="title"/>
          </p:nvPr>
        </p:nvSpPr>
        <p:spPr>
          <a:xfrm>
            <a:off x="395536" y="1628799"/>
            <a:ext cx="8352928" cy="504057"/>
          </a:xfrm>
        </p:spPr>
        <p:txBody>
          <a:bodyPr>
            <a:normAutofit fontScale="90000"/>
          </a:bodyPr>
          <a:lstStyle/>
          <a:p>
            <a:r>
              <a:rPr lang="en-US" b="1" dirty="0">
                <a:latin typeface="Times New Roman" pitchFamily="18" charset="0"/>
                <a:cs typeface="Times New Roman" pitchFamily="18" charset="0"/>
              </a:rPr>
              <a:t> </a:t>
            </a:r>
            <a:r>
              <a:rPr lang="en-US" b="1" dirty="0">
                <a:solidFill>
                  <a:schemeClr val="accent1"/>
                </a:solidFill>
                <a:latin typeface="Times New Roman" pitchFamily="18" charset="0"/>
                <a:cs typeface="Times New Roman" pitchFamily="18" charset="0"/>
              </a:rPr>
              <a:t>Technologies used</a:t>
            </a:r>
            <a:br>
              <a:rPr lang="en-US" b="1" dirty="0">
                <a:latin typeface="Times New Roman"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8563D90A-533D-788B-5808-58DB3BA9A316}"/>
              </a:ext>
            </a:extLst>
          </p:cNvPr>
          <p:cNvSpPr>
            <a:spLocks noGrp="1"/>
          </p:cNvSpPr>
          <p:nvPr>
            <p:ph idx="1"/>
          </p:nvPr>
        </p:nvSpPr>
        <p:spPr>
          <a:xfrm>
            <a:off x="251520" y="1988840"/>
            <a:ext cx="9024698" cy="4367510"/>
          </a:xfrm>
        </p:spPr>
        <p:txBody>
          <a:bodyPr>
            <a:normAutofit fontScale="25000" lnSpcReduction="20000"/>
          </a:bodyPr>
          <a:lstStyle/>
          <a:p>
            <a:pPr marL="0" indent="0">
              <a:lnSpc>
                <a:spcPct val="150000"/>
              </a:lnSpc>
              <a:buNone/>
            </a:pPr>
            <a:r>
              <a:rPr lang="en-IN" sz="7200" b="1" u="sng" dirty="0">
                <a:latin typeface="Times New Roman" panose="02020603050405020304" pitchFamily="18" charset="0"/>
                <a:cs typeface="Times New Roman" panose="02020603050405020304" pitchFamily="18" charset="0"/>
              </a:rPr>
              <a:t>🔗 Blockchain Platform</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Ethereum</a:t>
            </a:r>
            <a:r>
              <a:rPr lang="en-IN" sz="7200" dirty="0">
                <a:latin typeface="Times New Roman" panose="02020603050405020304" pitchFamily="18" charset="0"/>
                <a:cs typeface="Times New Roman" panose="02020603050405020304" pitchFamily="18" charset="0"/>
              </a:rPr>
              <a:t>: For decentralized, immutable identity records</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Smart Contracts (Solidity)</a:t>
            </a:r>
            <a:r>
              <a:rPr lang="en-IN" sz="7200" dirty="0">
                <a:latin typeface="Times New Roman" panose="02020603050405020304" pitchFamily="18" charset="0"/>
                <a:cs typeface="Times New Roman" panose="02020603050405020304" pitchFamily="18" charset="0"/>
              </a:rPr>
              <a:t>: Manage access permissions securely</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Ganache &amp; Truffle Suite</a:t>
            </a:r>
            <a:r>
              <a:rPr lang="en-IN" sz="7200" dirty="0">
                <a:latin typeface="Times New Roman" panose="02020603050405020304" pitchFamily="18" charset="0"/>
                <a:cs typeface="Times New Roman" panose="02020603050405020304" pitchFamily="18" charset="0"/>
              </a:rPr>
              <a:t>: Local development &amp; testing tools</a:t>
            </a:r>
          </a:p>
          <a:p>
            <a:pPr marL="0" indent="0">
              <a:lnSpc>
                <a:spcPct val="150000"/>
              </a:lnSpc>
              <a:buNone/>
            </a:pPr>
            <a:r>
              <a:rPr lang="en-IN" sz="7200" b="1" u="sng" dirty="0">
                <a:latin typeface="Times New Roman" panose="02020603050405020304" pitchFamily="18" charset="0"/>
                <a:cs typeface="Times New Roman" panose="02020603050405020304" pitchFamily="18" charset="0"/>
              </a:rPr>
              <a:t>☁️ Decentralized Storage</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IPFS (InterPlanetary File System)</a:t>
            </a:r>
            <a:r>
              <a:rPr lang="en-IN" sz="7200" dirty="0">
                <a:latin typeface="Times New Roman" panose="02020603050405020304" pitchFamily="18" charset="0"/>
                <a:cs typeface="Times New Roman" panose="02020603050405020304" pitchFamily="18" charset="0"/>
              </a:rPr>
              <a:t>: For encrypted KYC document storage</a:t>
            </a:r>
          </a:p>
          <a:p>
            <a:pPr marL="0" indent="0">
              <a:lnSpc>
                <a:spcPct val="150000"/>
              </a:lnSpc>
              <a:buNone/>
            </a:pPr>
            <a:r>
              <a:rPr lang="en-IN" sz="7200" b="1" u="sng" dirty="0">
                <a:latin typeface="Times New Roman" panose="02020603050405020304" pitchFamily="18" charset="0"/>
                <a:cs typeface="Times New Roman" panose="02020603050405020304" pitchFamily="18" charset="0"/>
              </a:rPr>
              <a:t>💻 Development Tools</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Frontend</a:t>
            </a:r>
            <a:r>
              <a:rPr lang="en-IN" sz="7200" dirty="0">
                <a:latin typeface="Times New Roman" panose="02020603050405020304" pitchFamily="18" charset="0"/>
                <a:cs typeface="Times New Roman" panose="02020603050405020304" pitchFamily="18" charset="0"/>
              </a:rPr>
              <a:t>: HTML5, CSS3, JavaScript</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Backend</a:t>
            </a:r>
            <a:r>
              <a:rPr lang="en-IN" sz="7200" dirty="0">
                <a:latin typeface="Times New Roman" panose="02020603050405020304" pitchFamily="18" charset="0"/>
                <a:cs typeface="Times New Roman" panose="02020603050405020304" pitchFamily="18" charset="0"/>
              </a:rPr>
              <a:t>: Python (Flask / Django)</a:t>
            </a:r>
          </a:p>
          <a:p>
            <a:pPr>
              <a:lnSpc>
                <a:spcPct val="150000"/>
              </a:lnSpc>
              <a:buFont typeface="Wingdings" panose="05000000000000000000" pitchFamily="2" charset="2"/>
              <a:buChar char="Ø"/>
            </a:pPr>
            <a:r>
              <a:rPr lang="en-IN" sz="7200" b="1" dirty="0">
                <a:latin typeface="Times New Roman" panose="02020603050405020304" pitchFamily="18" charset="0"/>
                <a:cs typeface="Times New Roman" panose="02020603050405020304" pitchFamily="18" charset="0"/>
              </a:rPr>
              <a:t>Web3.py / Web3.js</a:t>
            </a:r>
            <a:r>
              <a:rPr lang="en-IN" sz="7200" dirty="0">
                <a:latin typeface="Times New Roman" panose="02020603050405020304" pitchFamily="18" charset="0"/>
                <a:cs typeface="Times New Roman" panose="02020603050405020304" pitchFamily="18" charset="0"/>
              </a:rPr>
              <a:t>: For blockchain interaction</a:t>
            </a:r>
          </a:p>
          <a:p>
            <a:endParaRPr lang="en-IN" dirty="0"/>
          </a:p>
        </p:txBody>
      </p:sp>
      <p:sp>
        <p:nvSpPr>
          <p:cNvPr id="4" name="Footer Placeholder 3">
            <a:extLst>
              <a:ext uri="{FF2B5EF4-FFF2-40B4-BE49-F238E27FC236}">
                <a16:creationId xmlns:a16="http://schemas.microsoft.com/office/drawing/2014/main" id="{5DD34880-8B09-AA06-06A9-015FC2BF94CA}"/>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E64FBCB4-924B-2058-6545-8A7E5465C588}"/>
              </a:ext>
            </a:extLst>
          </p:cNvPr>
          <p:cNvPicPr>
            <a:picLocks noChangeAspect="1"/>
          </p:cNvPicPr>
          <p:nvPr/>
        </p:nvPicPr>
        <p:blipFill>
          <a:blip r:embed="rId2"/>
          <a:stretch>
            <a:fillRect/>
          </a:stretch>
        </p:blipFill>
        <p:spPr>
          <a:xfrm>
            <a:off x="0" y="-28699"/>
            <a:ext cx="9144000" cy="1414272"/>
          </a:xfrm>
          <a:prstGeom prst="rect">
            <a:avLst/>
          </a:prstGeom>
        </p:spPr>
      </p:pic>
    </p:spTree>
    <p:extLst>
      <p:ext uri="{BB962C8B-B14F-4D97-AF65-F5344CB8AC3E}">
        <p14:creationId xmlns:p14="http://schemas.microsoft.com/office/powerpoint/2010/main" val="3743670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11BBA-59F0-E2F1-97AD-8ECE03A6D022}"/>
              </a:ext>
            </a:extLst>
          </p:cNvPr>
          <p:cNvSpPr>
            <a:spLocks noGrp="1"/>
          </p:cNvSpPr>
          <p:nvPr>
            <p:ph type="title"/>
          </p:nvPr>
        </p:nvSpPr>
        <p:spPr>
          <a:xfrm>
            <a:off x="1691680" y="1389779"/>
            <a:ext cx="4752528" cy="743078"/>
          </a:xfrm>
        </p:spPr>
        <p:txBody>
          <a:bodyPr>
            <a:normAutofit fontScale="90000"/>
          </a:bodyPr>
          <a:lstStyle/>
          <a:p>
            <a:r>
              <a:rPr lang="en-US" b="1" dirty="0">
                <a:solidFill>
                  <a:schemeClr val="accent1"/>
                </a:solidFill>
                <a:latin typeface="Times New Roman" pitchFamily="18" charset="0"/>
                <a:cs typeface="Times New Roman" pitchFamily="18" charset="0"/>
              </a:rPr>
              <a:t>Implementation</a:t>
            </a:r>
            <a:endParaRPr lang="en-IN" dirty="0">
              <a:solidFill>
                <a:schemeClr val="accent1"/>
              </a:solidFill>
            </a:endParaRPr>
          </a:p>
        </p:txBody>
      </p:sp>
      <p:sp>
        <p:nvSpPr>
          <p:cNvPr id="3" name="Content Placeholder 2">
            <a:extLst>
              <a:ext uri="{FF2B5EF4-FFF2-40B4-BE49-F238E27FC236}">
                <a16:creationId xmlns:a16="http://schemas.microsoft.com/office/drawing/2014/main" id="{E18363F2-5398-5B27-4C39-F22C748807BC}"/>
              </a:ext>
            </a:extLst>
          </p:cNvPr>
          <p:cNvSpPr>
            <a:spLocks noGrp="1"/>
          </p:cNvSpPr>
          <p:nvPr>
            <p:ph idx="1"/>
          </p:nvPr>
        </p:nvSpPr>
        <p:spPr>
          <a:xfrm>
            <a:off x="0" y="2132856"/>
            <a:ext cx="4391471" cy="4464495"/>
          </a:xfrm>
        </p:spPr>
        <p:txBody>
          <a:bodyPr>
            <a:normAutofit fontScale="25000" lnSpcReduction="20000"/>
          </a:bodyPr>
          <a:lstStyle/>
          <a:p>
            <a:pPr>
              <a:lnSpc>
                <a:spcPct val="170000"/>
              </a:lnSpc>
              <a:buFont typeface="Wingdings" panose="05000000000000000000" pitchFamily="2" charset="2"/>
              <a:buChar char="Ø"/>
            </a:pPr>
            <a:r>
              <a:rPr lang="en-IN" sz="7200" dirty="0">
                <a:latin typeface="Times New Roman" panose="02020603050405020304" pitchFamily="18" charset="0"/>
                <a:cs typeface="Times New Roman" panose="02020603050405020304" pitchFamily="18" charset="0"/>
              </a:rPr>
              <a:t>First go inside ‘hello-eth/node-modules/bin’ folder and then find for ‘runBlockchain.bat’ file and then double click on that file to get below Ethereum screen</a:t>
            </a:r>
          </a:p>
          <a:p>
            <a:pPr>
              <a:lnSpc>
                <a:spcPct val="170000"/>
              </a:lnSpc>
              <a:buFont typeface="Wingdings" panose="05000000000000000000" pitchFamily="2" charset="2"/>
              <a:buChar char="Ø"/>
            </a:pPr>
            <a:r>
              <a:rPr lang="en-IN" sz="7200" dirty="0">
                <a:latin typeface="Times New Roman" panose="02020603050405020304" pitchFamily="18" charset="0"/>
                <a:cs typeface="Times New Roman" panose="02020603050405020304" pitchFamily="18" charset="0"/>
              </a:rPr>
              <a:t>In side screen Ethereum started with default accounts and private keys and then type command as ‘migrate’ and then press enter key to deploy contract and get below screen</a:t>
            </a:r>
          </a:p>
          <a:p>
            <a:endParaRPr lang="en-IN" dirty="0"/>
          </a:p>
        </p:txBody>
      </p:sp>
      <p:sp>
        <p:nvSpPr>
          <p:cNvPr id="4" name="Footer Placeholder 3">
            <a:extLst>
              <a:ext uri="{FF2B5EF4-FFF2-40B4-BE49-F238E27FC236}">
                <a16:creationId xmlns:a16="http://schemas.microsoft.com/office/drawing/2014/main" id="{162CF4CB-48D0-7A8B-25D3-3670D8DB2779}"/>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2EC35DB3-D3D1-F296-F8C3-964BAB72720D}"/>
              </a:ext>
            </a:extLst>
          </p:cNvPr>
          <p:cNvPicPr>
            <a:picLocks noChangeAspect="1"/>
          </p:cNvPicPr>
          <p:nvPr/>
        </p:nvPicPr>
        <p:blipFill>
          <a:blip r:embed="rId2"/>
          <a:stretch>
            <a:fillRect/>
          </a:stretch>
        </p:blipFill>
        <p:spPr>
          <a:xfrm>
            <a:off x="14549" y="-24494"/>
            <a:ext cx="9144000" cy="1414272"/>
          </a:xfrm>
          <a:prstGeom prst="rect">
            <a:avLst/>
          </a:prstGeom>
        </p:spPr>
      </p:pic>
      <p:pic>
        <p:nvPicPr>
          <p:cNvPr id="6" name="Picture 5">
            <a:extLst>
              <a:ext uri="{FF2B5EF4-FFF2-40B4-BE49-F238E27FC236}">
                <a16:creationId xmlns:a16="http://schemas.microsoft.com/office/drawing/2014/main" id="{2C71093F-48ED-C0A1-1FFD-46E04CA09EBF}"/>
              </a:ext>
            </a:extLst>
          </p:cNvPr>
          <p:cNvPicPr>
            <a:picLocks noChangeAspect="1"/>
          </p:cNvPicPr>
          <p:nvPr/>
        </p:nvPicPr>
        <p:blipFill>
          <a:blip r:embed="rId3"/>
          <a:stretch>
            <a:fillRect/>
          </a:stretch>
        </p:blipFill>
        <p:spPr>
          <a:xfrm>
            <a:off x="4391471" y="2243157"/>
            <a:ext cx="4752529" cy="3225064"/>
          </a:xfrm>
          <a:prstGeom prst="rect">
            <a:avLst/>
          </a:prstGeom>
        </p:spPr>
      </p:pic>
    </p:spTree>
    <p:extLst>
      <p:ext uri="{BB962C8B-B14F-4D97-AF65-F5344CB8AC3E}">
        <p14:creationId xmlns:p14="http://schemas.microsoft.com/office/powerpoint/2010/main" val="381280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8508D4C-D926-C717-BB59-8E35399E83AE}"/>
              </a:ext>
            </a:extLst>
          </p:cNvPr>
          <p:cNvPicPr>
            <a:picLocks noGrp="1" noChangeAspect="1"/>
          </p:cNvPicPr>
          <p:nvPr>
            <p:ph idx="1"/>
          </p:nvPr>
        </p:nvPicPr>
        <p:blipFill>
          <a:blip r:embed="rId2"/>
          <a:stretch>
            <a:fillRect/>
          </a:stretch>
        </p:blipFill>
        <p:spPr>
          <a:xfrm>
            <a:off x="4355976" y="1844824"/>
            <a:ext cx="4788024" cy="4169328"/>
          </a:xfrm>
          <a:prstGeom prst="rect">
            <a:avLst/>
          </a:prstGeom>
        </p:spPr>
      </p:pic>
      <p:sp>
        <p:nvSpPr>
          <p:cNvPr id="4" name="Footer Placeholder 3">
            <a:extLst>
              <a:ext uri="{FF2B5EF4-FFF2-40B4-BE49-F238E27FC236}">
                <a16:creationId xmlns:a16="http://schemas.microsoft.com/office/drawing/2014/main" id="{A660A555-0D53-8E7F-777F-D365F99C259E}"/>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F9DAA9B0-E97D-98CC-B9A3-57B54C7AE8E5}"/>
              </a:ext>
            </a:extLst>
          </p:cNvPr>
          <p:cNvPicPr>
            <a:picLocks noChangeAspect="1"/>
          </p:cNvPicPr>
          <p:nvPr/>
        </p:nvPicPr>
        <p:blipFill>
          <a:blip r:embed="rId3"/>
          <a:stretch>
            <a:fillRect/>
          </a:stretch>
        </p:blipFill>
        <p:spPr>
          <a:xfrm>
            <a:off x="0" y="0"/>
            <a:ext cx="9144000" cy="1414272"/>
          </a:xfrm>
          <a:prstGeom prst="rect">
            <a:avLst/>
          </a:prstGeom>
        </p:spPr>
      </p:pic>
      <p:sp>
        <p:nvSpPr>
          <p:cNvPr id="7" name="TextBox 6">
            <a:extLst>
              <a:ext uri="{FF2B5EF4-FFF2-40B4-BE49-F238E27FC236}">
                <a16:creationId xmlns:a16="http://schemas.microsoft.com/office/drawing/2014/main" id="{3A9C9EA1-9B4F-8D11-59C7-1C391E40E314}"/>
              </a:ext>
            </a:extLst>
          </p:cNvPr>
          <p:cNvSpPr txBox="1"/>
          <p:nvPr/>
        </p:nvSpPr>
        <p:spPr>
          <a:xfrm>
            <a:off x="323528" y="1700808"/>
            <a:ext cx="3888432" cy="535531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 side screen in white colour text can see KY Contract deployed and got contract address also and this address need to specify in PYTHON code to access that contract to store and get user data. In below screen showing python code calling smart contract</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implement this project, we have designed following modules</a:t>
            </a:r>
          </a:p>
          <a:p>
            <a:pPr marL="285750" indent="-285750">
              <a:lnSpc>
                <a:spcPct val="150000"/>
              </a:lnSpc>
              <a:buFont typeface="Wingdings" panose="05000000000000000000" pitchFamily="2" charset="2"/>
              <a:buChar char="Ø"/>
            </a:pPr>
            <a:r>
              <a:rPr lang="en-IN" dirty="0"/>
              <a:t>User module </a:t>
            </a:r>
            <a:r>
              <a:rPr lang="en-IN"/>
              <a:t>and Bank Admin </a:t>
            </a:r>
            <a:r>
              <a:rPr lang="en-IN" dirty="0"/>
              <a:t>Module</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61567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54410-3EB2-F17F-ACE6-BC553183C584}"/>
              </a:ext>
            </a:extLst>
          </p:cNvPr>
          <p:cNvSpPr>
            <a:spLocks noGrp="1"/>
          </p:cNvSpPr>
          <p:nvPr>
            <p:ph idx="1"/>
          </p:nvPr>
        </p:nvSpPr>
        <p:spPr>
          <a:xfrm>
            <a:off x="107504" y="1414272"/>
            <a:ext cx="8579296" cy="4711891"/>
          </a:xfrm>
        </p:spPr>
        <p:txBody>
          <a:bodyPr/>
          <a:lstStyle/>
          <a:p>
            <a:pPr marL="0" indent="0">
              <a:buNone/>
            </a:pPr>
            <a:r>
              <a:rPr lang="en-IN" sz="1600" dirty="0"/>
              <a:t>To run project double click on ‘runServer.bat’ file to start python server and get below page</a:t>
            </a:r>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pPr marL="0" indent="0">
              <a:buNone/>
            </a:pPr>
            <a:endParaRPr lang="en-IN" sz="1600" dirty="0"/>
          </a:p>
          <a:p>
            <a:pPr marL="0" indent="0">
              <a:buNone/>
            </a:pPr>
            <a:r>
              <a:rPr lang="en-IN" sz="1800" dirty="0"/>
              <a:t>In above screen python server started and now open browser and enter URL as ‘http://127.0.0.1:8000/index.html’ and press enter key to get below page</a:t>
            </a:r>
          </a:p>
          <a:p>
            <a:endParaRPr lang="en-IN" dirty="0"/>
          </a:p>
        </p:txBody>
      </p:sp>
      <p:sp>
        <p:nvSpPr>
          <p:cNvPr id="4" name="Footer Placeholder 3">
            <a:extLst>
              <a:ext uri="{FF2B5EF4-FFF2-40B4-BE49-F238E27FC236}">
                <a16:creationId xmlns:a16="http://schemas.microsoft.com/office/drawing/2014/main" id="{6A029CE3-F47A-8F69-80E1-885B46E77AED}"/>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2F4D967D-4F68-CCE8-B8EE-58A086B800E7}"/>
              </a:ext>
            </a:extLst>
          </p:cNvPr>
          <p:cNvPicPr>
            <a:picLocks noChangeAspect="1"/>
          </p:cNvPicPr>
          <p:nvPr/>
        </p:nvPicPr>
        <p:blipFill>
          <a:blip r:embed="rId2"/>
          <a:stretch>
            <a:fillRect/>
          </a:stretch>
        </p:blipFill>
        <p:spPr>
          <a:xfrm>
            <a:off x="0" y="0"/>
            <a:ext cx="9144000" cy="1414272"/>
          </a:xfrm>
          <a:prstGeom prst="rect">
            <a:avLst/>
          </a:prstGeom>
        </p:spPr>
      </p:pic>
      <p:pic>
        <p:nvPicPr>
          <p:cNvPr id="6" name="Picture 5">
            <a:extLst>
              <a:ext uri="{FF2B5EF4-FFF2-40B4-BE49-F238E27FC236}">
                <a16:creationId xmlns:a16="http://schemas.microsoft.com/office/drawing/2014/main" id="{105093D5-6728-8D0B-33EE-A6663D4A0100}"/>
              </a:ext>
            </a:extLst>
          </p:cNvPr>
          <p:cNvPicPr>
            <a:picLocks noChangeAspect="1"/>
          </p:cNvPicPr>
          <p:nvPr/>
        </p:nvPicPr>
        <p:blipFill>
          <a:blip r:embed="rId3"/>
          <a:stretch>
            <a:fillRect/>
          </a:stretch>
        </p:blipFill>
        <p:spPr>
          <a:xfrm>
            <a:off x="1475656" y="1791999"/>
            <a:ext cx="5817696" cy="3274002"/>
          </a:xfrm>
          <a:prstGeom prst="rect">
            <a:avLst/>
          </a:prstGeom>
        </p:spPr>
      </p:pic>
    </p:spTree>
    <p:extLst>
      <p:ext uri="{BB962C8B-B14F-4D97-AF65-F5344CB8AC3E}">
        <p14:creationId xmlns:p14="http://schemas.microsoft.com/office/powerpoint/2010/main" val="1830297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31D417C-4FBA-43ED-C400-910D84570A93}"/>
              </a:ext>
            </a:extLst>
          </p:cNvPr>
          <p:cNvPicPr>
            <a:picLocks noGrp="1" noChangeAspect="1"/>
          </p:cNvPicPr>
          <p:nvPr>
            <p:ph idx="1"/>
          </p:nvPr>
        </p:nvPicPr>
        <p:blipFill>
          <a:blip r:embed="rId2"/>
          <a:stretch>
            <a:fillRect/>
          </a:stretch>
        </p:blipFill>
        <p:spPr>
          <a:xfrm>
            <a:off x="58455" y="1410374"/>
            <a:ext cx="4837013" cy="2722106"/>
          </a:xfrm>
          <a:prstGeom prst="rect">
            <a:avLst/>
          </a:prstGeom>
        </p:spPr>
      </p:pic>
      <p:sp>
        <p:nvSpPr>
          <p:cNvPr id="4" name="Footer Placeholder 3">
            <a:extLst>
              <a:ext uri="{FF2B5EF4-FFF2-40B4-BE49-F238E27FC236}">
                <a16:creationId xmlns:a16="http://schemas.microsoft.com/office/drawing/2014/main" id="{DAFA5D16-1F1E-7FBB-EEFF-D45BD6FD3A5E}"/>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AFAF1D84-9234-5E83-D978-A84B9C9F22D1}"/>
              </a:ext>
            </a:extLst>
          </p:cNvPr>
          <p:cNvPicPr>
            <a:picLocks noChangeAspect="1"/>
          </p:cNvPicPr>
          <p:nvPr/>
        </p:nvPicPr>
        <p:blipFill>
          <a:blip r:embed="rId3"/>
          <a:stretch>
            <a:fillRect/>
          </a:stretch>
        </p:blipFill>
        <p:spPr>
          <a:xfrm>
            <a:off x="0" y="-3899"/>
            <a:ext cx="9144000" cy="1414272"/>
          </a:xfrm>
          <a:prstGeom prst="rect">
            <a:avLst/>
          </a:prstGeom>
        </p:spPr>
      </p:pic>
      <p:pic>
        <p:nvPicPr>
          <p:cNvPr id="7" name="Picture 6">
            <a:extLst>
              <a:ext uri="{FF2B5EF4-FFF2-40B4-BE49-F238E27FC236}">
                <a16:creationId xmlns:a16="http://schemas.microsoft.com/office/drawing/2014/main" id="{081C93C5-1ABA-EF0A-69E9-D2EC1BE40C7B}"/>
              </a:ext>
            </a:extLst>
          </p:cNvPr>
          <p:cNvPicPr>
            <a:picLocks noChangeAspect="1"/>
          </p:cNvPicPr>
          <p:nvPr/>
        </p:nvPicPr>
        <p:blipFill>
          <a:blip r:embed="rId4"/>
          <a:stretch>
            <a:fillRect/>
          </a:stretch>
        </p:blipFill>
        <p:spPr>
          <a:xfrm>
            <a:off x="4283967" y="4133542"/>
            <a:ext cx="4837013" cy="2722106"/>
          </a:xfrm>
          <a:prstGeom prst="rect">
            <a:avLst/>
          </a:prstGeom>
        </p:spPr>
      </p:pic>
      <p:sp>
        <p:nvSpPr>
          <p:cNvPr id="8" name="TextBox 7">
            <a:extLst>
              <a:ext uri="{FF2B5EF4-FFF2-40B4-BE49-F238E27FC236}">
                <a16:creationId xmlns:a16="http://schemas.microsoft.com/office/drawing/2014/main" id="{FE0C5C6C-A7B9-B166-8A07-F22BAC9D754B}"/>
              </a:ext>
            </a:extLst>
          </p:cNvPr>
          <p:cNvSpPr txBox="1"/>
          <p:nvPr/>
        </p:nvSpPr>
        <p:spPr>
          <a:xfrm>
            <a:off x="5580112" y="2132856"/>
            <a:ext cx="3024336"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This screen shows new user sign up </a:t>
            </a:r>
          </a:p>
        </p:txBody>
      </p:sp>
      <p:sp>
        <p:nvSpPr>
          <p:cNvPr id="9" name="TextBox 8">
            <a:extLst>
              <a:ext uri="{FF2B5EF4-FFF2-40B4-BE49-F238E27FC236}">
                <a16:creationId xmlns:a16="http://schemas.microsoft.com/office/drawing/2014/main" id="{9CAB3B59-1ECB-A1A5-B965-3729F86FB12F}"/>
              </a:ext>
            </a:extLst>
          </p:cNvPr>
          <p:cNvSpPr txBox="1"/>
          <p:nvPr/>
        </p:nvSpPr>
        <p:spPr>
          <a:xfrm>
            <a:off x="971600" y="5013176"/>
            <a:ext cx="252028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This screen shows user login</a:t>
            </a:r>
          </a:p>
        </p:txBody>
      </p:sp>
    </p:spTree>
    <p:extLst>
      <p:ext uri="{BB962C8B-B14F-4D97-AF65-F5344CB8AC3E}">
        <p14:creationId xmlns:p14="http://schemas.microsoft.com/office/powerpoint/2010/main" val="352947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68BC3-6893-A9CA-49CC-5CCA3EE1DCD4}"/>
              </a:ext>
            </a:extLst>
          </p:cNvPr>
          <p:cNvSpPr>
            <a:spLocks noGrp="1"/>
          </p:cNvSpPr>
          <p:nvPr>
            <p:ph type="title"/>
          </p:nvPr>
        </p:nvSpPr>
        <p:spPr>
          <a:xfrm>
            <a:off x="0" y="1400500"/>
            <a:ext cx="8244408" cy="804364"/>
          </a:xfrm>
        </p:spPr>
        <p:txBody>
          <a:bodyPr>
            <a:normAutofit/>
          </a:bodyPr>
          <a:lstStyle/>
          <a:p>
            <a:r>
              <a:rPr lang="en-US" b="1" dirty="0">
                <a:solidFill>
                  <a:schemeClr val="accent1"/>
                </a:solidFill>
                <a:latin typeface="Times New Roman" pitchFamily="18" charset="0"/>
                <a:cs typeface="Times New Roman" pitchFamily="18" charset="0"/>
              </a:rPr>
              <a:t>Testing</a:t>
            </a:r>
            <a:endParaRPr lang="en-IN" dirty="0">
              <a:solidFill>
                <a:schemeClr val="accent1"/>
              </a:solidFill>
            </a:endParaRPr>
          </a:p>
        </p:txBody>
      </p:sp>
      <p:sp>
        <p:nvSpPr>
          <p:cNvPr id="3" name="Content Placeholder 2">
            <a:extLst>
              <a:ext uri="{FF2B5EF4-FFF2-40B4-BE49-F238E27FC236}">
                <a16:creationId xmlns:a16="http://schemas.microsoft.com/office/drawing/2014/main" id="{40BF7AEC-597B-1686-6F43-39A63B749AA8}"/>
              </a:ext>
            </a:extLst>
          </p:cNvPr>
          <p:cNvSpPr>
            <a:spLocks noGrp="1"/>
          </p:cNvSpPr>
          <p:nvPr>
            <p:ph idx="1"/>
          </p:nvPr>
        </p:nvSpPr>
        <p:spPr>
          <a:xfrm rot="10800000" flipV="1">
            <a:off x="1241601" y="32554848"/>
            <a:ext cx="6649169" cy="129395310"/>
          </a:xfrm>
        </p:spPr>
        <p:txBody>
          <a:bodyPr/>
          <a:lstStyle/>
          <a:p>
            <a:endParaRPr lang="en-IN" dirty="0"/>
          </a:p>
        </p:txBody>
      </p:sp>
      <p:sp>
        <p:nvSpPr>
          <p:cNvPr id="4" name="Footer Placeholder 3">
            <a:extLst>
              <a:ext uri="{FF2B5EF4-FFF2-40B4-BE49-F238E27FC236}">
                <a16:creationId xmlns:a16="http://schemas.microsoft.com/office/drawing/2014/main" id="{EC9398A5-F2EB-ABCF-327C-3EF39784A7F2}"/>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ED6D5F71-8B9E-35A8-D71A-F5DB1DE5543C}"/>
              </a:ext>
            </a:extLst>
          </p:cNvPr>
          <p:cNvPicPr>
            <a:picLocks noChangeAspect="1"/>
          </p:cNvPicPr>
          <p:nvPr/>
        </p:nvPicPr>
        <p:blipFill>
          <a:blip r:embed="rId2"/>
          <a:stretch>
            <a:fillRect/>
          </a:stretch>
        </p:blipFill>
        <p:spPr>
          <a:xfrm>
            <a:off x="11101" y="-13772"/>
            <a:ext cx="9144000" cy="1414272"/>
          </a:xfrm>
          <a:prstGeom prst="rect">
            <a:avLst/>
          </a:prstGeom>
        </p:spPr>
      </p:pic>
      <p:sp>
        <p:nvSpPr>
          <p:cNvPr id="13" name="Rectangle 8">
            <a:extLst>
              <a:ext uri="{FF2B5EF4-FFF2-40B4-BE49-F238E27FC236}">
                <a16:creationId xmlns:a16="http://schemas.microsoft.com/office/drawing/2014/main" id="{A75EFB6A-3E98-458D-71B7-8F6C9D783295}"/>
              </a:ext>
            </a:extLst>
          </p:cNvPr>
          <p:cNvSpPr>
            <a:spLocks noChangeArrowheads="1"/>
          </p:cNvSpPr>
          <p:nvPr/>
        </p:nvSpPr>
        <p:spPr bwMode="auto">
          <a:xfrm rot="10800000" flipV="1">
            <a:off x="251520" y="1815081"/>
            <a:ext cx="8568951" cy="489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Approach for Secure KYC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Testing</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Ensures all identity verification features work correctly.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Testing</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vulnerabilities in data encryption, access control, and fraud detection.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Testing</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Evaluates system speed, scalability, and response time under high loads.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Usability Testing</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Checks user experience, ease of navigation, and accessibility.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Compliance Testing</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Verifies adherence to regulations like GDPR, AML, and local KYC laws.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Testing</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Ensures seamless interaction between KYC modules, databases, and third-party APIs.</a:t>
            </a:r>
          </a:p>
        </p:txBody>
      </p:sp>
    </p:spTree>
    <p:extLst>
      <p:ext uri="{BB962C8B-B14F-4D97-AF65-F5344CB8AC3E}">
        <p14:creationId xmlns:p14="http://schemas.microsoft.com/office/powerpoint/2010/main" val="4209053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87BB-30A7-F3A4-7D70-6C9CAE17AC14}"/>
              </a:ext>
            </a:extLst>
          </p:cNvPr>
          <p:cNvSpPr>
            <a:spLocks noGrp="1"/>
          </p:cNvSpPr>
          <p:nvPr>
            <p:ph type="title"/>
          </p:nvPr>
        </p:nvSpPr>
        <p:spPr>
          <a:xfrm>
            <a:off x="1691680" y="1268760"/>
            <a:ext cx="5400600" cy="1008112"/>
          </a:xfrm>
        </p:spPr>
        <p:txBody>
          <a:bodyPr/>
          <a:lstStyle/>
          <a:p>
            <a:r>
              <a:rPr lang="en-IN" b="1" dirty="0">
                <a:solidFill>
                  <a:schemeClr val="accent1"/>
                </a:solidFill>
                <a:latin typeface="Times New Roman" panose="02020603050405020304" pitchFamily="18" charset="0"/>
                <a:cs typeface="Times New Roman" panose="02020603050405020304" pitchFamily="18" charset="0"/>
              </a:rPr>
              <a:t>RESULTS</a:t>
            </a:r>
          </a:p>
        </p:txBody>
      </p:sp>
      <p:sp>
        <p:nvSpPr>
          <p:cNvPr id="4" name="Footer Placeholder 3">
            <a:extLst>
              <a:ext uri="{FF2B5EF4-FFF2-40B4-BE49-F238E27FC236}">
                <a16:creationId xmlns:a16="http://schemas.microsoft.com/office/drawing/2014/main" id="{527F9023-324D-1BF1-1781-3C1C0B17F59C}"/>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750321D7-FC3E-A11E-8497-284F32DAC931}"/>
              </a:ext>
            </a:extLst>
          </p:cNvPr>
          <p:cNvPicPr>
            <a:picLocks noChangeAspect="1"/>
          </p:cNvPicPr>
          <p:nvPr/>
        </p:nvPicPr>
        <p:blipFill>
          <a:blip r:embed="rId2"/>
          <a:stretch>
            <a:fillRect/>
          </a:stretch>
        </p:blipFill>
        <p:spPr>
          <a:xfrm>
            <a:off x="0" y="-20229"/>
            <a:ext cx="9144000" cy="1414272"/>
          </a:xfrm>
          <a:prstGeom prst="rect">
            <a:avLst/>
          </a:prstGeom>
        </p:spPr>
      </p:pic>
      <p:graphicFrame>
        <p:nvGraphicFramePr>
          <p:cNvPr id="6" name="Table 5">
            <a:extLst>
              <a:ext uri="{FF2B5EF4-FFF2-40B4-BE49-F238E27FC236}">
                <a16:creationId xmlns:a16="http://schemas.microsoft.com/office/drawing/2014/main" id="{5BC506E0-3409-E122-C7ED-72CE5C77BAD4}"/>
              </a:ext>
            </a:extLst>
          </p:cNvPr>
          <p:cNvGraphicFramePr>
            <a:graphicFrameLocks noGrp="1"/>
          </p:cNvGraphicFramePr>
          <p:nvPr>
            <p:extLst>
              <p:ext uri="{D42A27DB-BD31-4B8C-83A1-F6EECF244321}">
                <p14:modId xmlns:p14="http://schemas.microsoft.com/office/powerpoint/2010/main" val="1334123808"/>
              </p:ext>
            </p:extLst>
          </p:nvPr>
        </p:nvGraphicFramePr>
        <p:xfrm>
          <a:off x="539552" y="2420888"/>
          <a:ext cx="7920880" cy="3935460"/>
        </p:xfrm>
        <a:graphic>
          <a:graphicData uri="http://schemas.openxmlformats.org/drawingml/2006/table">
            <a:tbl>
              <a:tblPr firstRow="1" bandRow="1">
                <a:tableStyleId>{5C22544A-7EE6-4342-B048-85BDC9FD1C3A}</a:tableStyleId>
              </a:tblPr>
              <a:tblGrid>
                <a:gridCol w="1980220">
                  <a:extLst>
                    <a:ext uri="{9D8B030D-6E8A-4147-A177-3AD203B41FA5}">
                      <a16:colId xmlns:a16="http://schemas.microsoft.com/office/drawing/2014/main" val="177168137"/>
                    </a:ext>
                  </a:extLst>
                </a:gridCol>
                <a:gridCol w="1476164">
                  <a:extLst>
                    <a:ext uri="{9D8B030D-6E8A-4147-A177-3AD203B41FA5}">
                      <a16:colId xmlns:a16="http://schemas.microsoft.com/office/drawing/2014/main" val="74625083"/>
                    </a:ext>
                  </a:extLst>
                </a:gridCol>
                <a:gridCol w="1512168">
                  <a:extLst>
                    <a:ext uri="{9D8B030D-6E8A-4147-A177-3AD203B41FA5}">
                      <a16:colId xmlns:a16="http://schemas.microsoft.com/office/drawing/2014/main" val="642136829"/>
                    </a:ext>
                  </a:extLst>
                </a:gridCol>
                <a:gridCol w="2952328">
                  <a:extLst>
                    <a:ext uri="{9D8B030D-6E8A-4147-A177-3AD203B41FA5}">
                      <a16:colId xmlns:a16="http://schemas.microsoft.com/office/drawing/2014/main" val="3338026462"/>
                    </a:ext>
                  </a:extLst>
                </a:gridCol>
              </a:tblGrid>
              <a:tr h="787092">
                <a:tc>
                  <a:txBody>
                    <a:bodyPr/>
                    <a:lstStyle/>
                    <a:p>
                      <a:r>
                        <a:rPr lang="en-IN" dirty="0"/>
                        <a:t>Component</a:t>
                      </a:r>
                    </a:p>
                  </a:txBody>
                  <a:tcPr/>
                </a:tc>
                <a:tc>
                  <a:txBody>
                    <a:bodyPr/>
                    <a:lstStyle/>
                    <a:p>
                      <a:r>
                        <a:rPr lang="en-IN" dirty="0"/>
                        <a:t>Test Coverage</a:t>
                      </a:r>
                    </a:p>
                  </a:txBody>
                  <a:tcPr/>
                </a:tc>
                <a:tc>
                  <a:txBody>
                    <a:bodyPr/>
                    <a:lstStyle/>
                    <a:p>
                      <a:r>
                        <a:rPr lang="en-IN" dirty="0"/>
                        <a:t>Success Rate</a:t>
                      </a:r>
                    </a:p>
                  </a:txBody>
                  <a:tcPr/>
                </a:tc>
                <a:tc>
                  <a:txBody>
                    <a:bodyPr/>
                    <a:lstStyle/>
                    <a:p>
                      <a:r>
                        <a:rPr lang="en-IN" dirty="0"/>
                        <a:t>Critical Issues Resolved </a:t>
                      </a:r>
                    </a:p>
                  </a:txBody>
                  <a:tcPr/>
                </a:tc>
                <a:extLst>
                  <a:ext uri="{0D108BD9-81ED-4DB2-BD59-A6C34878D82A}">
                    <a16:rowId xmlns:a16="http://schemas.microsoft.com/office/drawing/2014/main" val="3088656723"/>
                  </a:ext>
                </a:extLst>
              </a:tr>
              <a:tr h="787092">
                <a:tc>
                  <a:txBody>
                    <a:bodyPr/>
                    <a:lstStyle/>
                    <a:p>
                      <a:r>
                        <a:rPr lang="en-IN" dirty="0"/>
                        <a:t>Smart Contracts</a:t>
                      </a:r>
                    </a:p>
                  </a:txBody>
                  <a:tcPr/>
                </a:tc>
                <a:tc>
                  <a:txBody>
                    <a:bodyPr/>
                    <a:lstStyle/>
                    <a:p>
                      <a:r>
                        <a:rPr lang="en-IN" dirty="0"/>
                        <a:t>100%</a:t>
                      </a:r>
                    </a:p>
                  </a:txBody>
                  <a:tcPr/>
                </a:tc>
                <a:tc>
                  <a:txBody>
                    <a:bodyPr/>
                    <a:lstStyle/>
                    <a:p>
                      <a:r>
                        <a:rPr lang="en-IN" dirty="0"/>
                        <a:t>98%</a:t>
                      </a:r>
                    </a:p>
                  </a:txBody>
                  <a:tcPr/>
                </a:tc>
                <a:tc>
                  <a:txBody>
                    <a:bodyPr/>
                    <a:lstStyle/>
                    <a:p>
                      <a:r>
                        <a:rPr lang="en-IN" dirty="0"/>
                        <a:t>Reentrancy vulnerability fixed</a:t>
                      </a:r>
                    </a:p>
                  </a:txBody>
                  <a:tcPr/>
                </a:tc>
                <a:extLst>
                  <a:ext uri="{0D108BD9-81ED-4DB2-BD59-A6C34878D82A}">
                    <a16:rowId xmlns:a16="http://schemas.microsoft.com/office/drawing/2014/main" val="1553932576"/>
                  </a:ext>
                </a:extLst>
              </a:tr>
              <a:tr h="787092">
                <a:tc>
                  <a:txBody>
                    <a:bodyPr/>
                    <a:lstStyle/>
                    <a:p>
                      <a:r>
                        <a:rPr lang="en-IN" dirty="0"/>
                        <a:t>Ethereum Network</a:t>
                      </a:r>
                    </a:p>
                  </a:txBody>
                  <a:tcPr/>
                </a:tc>
                <a:tc>
                  <a:txBody>
                    <a:bodyPr/>
                    <a:lstStyle/>
                    <a:p>
                      <a:r>
                        <a:rPr lang="en-IN" dirty="0"/>
                        <a:t>80%(load tests)</a:t>
                      </a:r>
                    </a:p>
                  </a:txBody>
                  <a:tcPr/>
                </a:tc>
                <a:tc>
                  <a:txBody>
                    <a:bodyPr/>
                    <a:lstStyle/>
                    <a:p>
                      <a:r>
                        <a:rPr lang="en-IN" dirty="0"/>
                        <a:t>99%</a:t>
                      </a:r>
                    </a:p>
                  </a:txBody>
                  <a:tcPr/>
                </a:tc>
                <a:tc>
                  <a:txBody>
                    <a:bodyPr/>
                    <a:lstStyle/>
                    <a:p>
                      <a:r>
                        <a:rPr lang="en-IN" dirty="0"/>
                        <a:t>Gas fee optimization needed</a:t>
                      </a:r>
                    </a:p>
                  </a:txBody>
                  <a:tcPr/>
                </a:tc>
                <a:extLst>
                  <a:ext uri="{0D108BD9-81ED-4DB2-BD59-A6C34878D82A}">
                    <a16:rowId xmlns:a16="http://schemas.microsoft.com/office/drawing/2014/main" val="416311110"/>
                  </a:ext>
                </a:extLst>
              </a:tr>
              <a:tr h="787092">
                <a:tc>
                  <a:txBody>
                    <a:bodyPr/>
                    <a:lstStyle/>
                    <a:p>
                      <a:r>
                        <a:rPr lang="en-IN" dirty="0"/>
                        <a:t>IPFS Storage</a:t>
                      </a:r>
                    </a:p>
                  </a:txBody>
                  <a:tcPr/>
                </a:tc>
                <a:tc>
                  <a:txBody>
                    <a:bodyPr/>
                    <a:lstStyle/>
                    <a:p>
                      <a:r>
                        <a:rPr lang="en-IN" dirty="0"/>
                        <a:t>100%</a:t>
                      </a:r>
                    </a:p>
                  </a:txBody>
                  <a:tcPr/>
                </a:tc>
                <a:tc>
                  <a:txBody>
                    <a:bodyPr/>
                    <a:lstStyle/>
                    <a:p>
                      <a:r>
                        <a:rPr lang="en-IN" dirty="0"/>
                        <a:t>100%</a:t>
                      </a:r>
                    </a:p>
                  </a:txBody>
                  <a:tcPr/>
                </a:tc>
                <a:tc>
                  <a:txBody>
                    <a:bodyPr/>
                    <a:lstStyle/>
                    <a:p>
                      <a:r>
                        <a:rPr lang="en-IN" dirty="0"/>
                        <a:t>None </a:t>
                      </a:r>
                    </a:p>
                  </a:txBody>
                  <a:tcPr/>
                </a:tc>
                <a:extLst>
                  <a:ext uri="{0D108BD9-81ED-4DB2-BD59-A6C34878D82A}">
                    <a16:rowId xmlns:a16="http://schemas.microsoft.com/office/drawing/2014/main" val="2041880711"/>
                  </a:ext>
                </a:extLst>
              </a:tr>
              <a:tr h="787092">
                <a:tc>
                  <a:txBody>
                    <a:bodyPr/>
                    <a:lstStyle/>
                    <a:p>
                      <a:r>
                        <a:rPr lang="en-IN" dirty="0"/>
                        <a:t>Frontend/Backend</a:t>
                      </a:r>
                    </a:p>
                  </a:txBody>
                  <a:tcPr/>
                </a:tc>
                <a:tc>
                  <a:txBody>
                    <a:bodyPr/>
                    <a:lstStyle/>
                    <a:p>
                      <a:r>
                        <a:rPr lang="en-IN" dirty="0"/>
                        <a:t>90%</a:t>
                      </a:r>
                    </a:p>
                  </a:txBody>
                  <a:tcPr/>
                </a:tc>
                <a:tc>
                  <a:txBody>
                    <a:bodyPr/>
                    <a:lstStyle/>
                    <a:p>
                      <a:r>
                        <a:rPr lang="en-IN" dirty="0"/>
                        <a:t>95%</a:t>
                      </a:r>
                    </a:p>
                  </a:txBody>
                  <a:tcPr/>
                </a:tc>
                <a:tc>
                  <a:txBody>
                    <a:bodyPr/>
                    <a:lstStyle/>
                    <a:p>
                      <a:r>
                        <a:rPr lang="en-IN" dirty="0"/>
                        <a:t>RPC time out handling improved</a:t>
                      </a:r>
                    </a:p>
                  </a:txBody>
                  <a:tcPr/>
                </a:tc>
                <a:extLst>
                  <a:ext uri="{0D108BD9-81ED-4DB2-BD59-A6C34878D82A}">
                    <a16:rowId xmlns:a16="http://schemas.microsoft.com/office/drawing/2014/main" val="4064363509"/>
                  </a:ext>
                </a:extLst>
              </a:tr>
            </a:tbl>
          </a:graphicData>
        </a:graphic>
      </p:graphicFrame>
    </p:spTree>
    <p:extLst>
      <p:ext uri="{BB962C8B-B14F-4D97-AF65-F5344CB8AC3E}">
        <p14:creationId xmlns:p14="http://schemas.microsoft.com/office/powerpoint/2010/main" val="543429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3FD71-7371-2AB5-4FC4-9963F51BCB4C}"/>
              </a:ext>
            </a:extLst>
          </p:cNvPr>
          <p:cNvSpPr>
            <a:spLocks noGrp="1"/>
          </p:cNvSpPr>
          <p:nvPr>
            <p:ph type="title"/>
          </p:nvPr>
        </p:nvSpPr>
        <p:spPr>
          <a:xfrm>
            <a:off x="2411760" y="1544134"/>
            <a:ext cx="3168352" cy="804746"/>
          </a:xfrm>
        </p:spPr>
        <p:txBody>
          <a:bodyPr>
            <a:noAutofit/>
          </a:bodyPr>
          <a:lstStyle/>
          <a:p>
            <a:r>
              <a:rPr lang="en-IN" sz="4800" b="1" dirty="0">
                <a:solidFill>
                  <a:schemeClr val="accent1"/>
                </a:solidFill>
                <a:latin typeface="Times New Roman" panose="02020603050405020304" pitchFamily="18" charset="0"/>
                <a:cs typeface="Times New Roman" panose="02020603050405020304" pitchFamily="18" charset="0"/>
              </a:rPr>
              <a:t>Conclusion</a:t>
            </a:r>
            <a:br>
              <a:rPr lang="en-IN" dirty="0">
                <a:solidFill>
                  <a:schemeClr val="accent1"/>
                </a:solidFill>
              </a:rPr>
            </a:br>
            <a:endParaRPr lang="en-IN" dirty="0">
              <a:solidFill>
                <a:schemeClr val="accent1"/>
              </a:solidFill>
            </a:endParaRPr>
          </a:p>
        </p:txBody>
      </p:sp>
      <p:sp>
        <p:nvSpPr>
          <p:cNvPr id="3" name="Content Placeholder 2">
            <a:extLst>
              <a:ext uri="{FF2B5EF4-FFF2-40B4-BE49-F238E27FC236}">
                <a16:creationId xmlns:a16="http://schemas.microsoft.com/office/drawing/2014/main" id="{6AEDA039-1F92-D7A1-93B2-60A0A66BBFF7}"/>
              </a:ext>
            </a:extLst>
          </p:cNvPr>
          <p:cNvSpPr>
            <a:spLocks noGrp="1"/>
          </p:cNvSpPr>
          <p:nvPr>
            <p:ph idx="1"/>
          </p:nvPr>
        </p:nvSpPr>
        <p:spPr>
          <a:xfrm>
            <a:off x="179512" y="1988840"/>
            <a:ext cx="8784976" cy="4536504"/>
          </a:xfrm>
        </p:spPr>
        <p:txBody>
          <a:bodyPr>
            <a:normAutofit fontScale="85000" lnSpcReduction="10000"/>
          </a:bodyPr>
          <a:lstStyle/>
          <a:p>
            <a:pPr marL="0" indent="0">
              <a:lnSpc>
                <a:spcPct val="150000"/>
              </a:lnSpc>
              <a:buNone/>
            </a:pPr>
            <a:r>
              <a:rPr lang="en-IN" sz="2100" b="1" dirty="0">
                <a:latin typeface="Times New Roman" panose="02020603050405020304" pitchFamily="18" charset="0"/>
                <a:cs typeface="Times New Roman" panose="02020603050405020304" pitchFamily="18" charset="0"/>
              </a:rPr>
              <a:t>Conclusion:</a:t>
            </a:r>
            <a:r>
              <a:rPr lang="en-IN" sz="2100" dirty="0">
                <a:latin typeface="Times New Roman" panose="02020603050405020304" pitchFamily="18" charset="0"/>
                <a:cs typeface="Times New Roman" panose="02020603050405020304" pitchFamily="18" charset="0"/>
              </a:rPr>
              <a:t> This blockchain-based KYC identity management system, successfully leverages Ethereum (PoS), IPFS, and smart contracts to achieve:</a:t>
            </a:r>
          </a:p>
          <a:p>
            <a:pPr marL="0" indent="0">
              <a:lnSpc>
                <a:spcPct val="150000"/>
              </a:lnSpc>
              <a:buNone/>
            </a:pPr>
            <a:r>
              <a:rPr lang="en-IN" sz="2100" dirty="0">
                <a:latin typeface="Times New Roman" panose="02020603050405020304" pitchFamily="18" charset="0"/>
                <a:cs typeface="Times New Roman" panose="02020603050405020304" pitchFamily="18" charset="0"/>
              </a:rPr>
              <a:t>1.</a:t>
            </a:r>
            <a:r>
              <a:rPr lang="en-IN" sz="2100" b="1" u="sng" dirty="0">
                <a:latin typeface="Times New Roman" panose="02020603050405020304" pitchFamily="18" charset="0"/>
                <a:cs typeface="Times New Roman" panose="02020603050405020304" pitchFamily="18" charset="0"/>
              </a:rPr>
              <a:t>Immutable Identity Records </a:t>
            </a:r>
            <a:r>
              <a:rPr lang="en-IN" sz="2100" dirty="0">
                <a:latin typeface="Times New Roman" panose="02020603050405020304" pitchFamily="18" charset="0"/>
                <a:cs typeface="Times New Roman" panose="02020603050405020304" pitchFamily="18" charset="0"/>
              </a:rPr>
              <a:t>– Tamper-proof storage on Ethereum. </a:t>
            </a:r>
          </a:p>
          <a:p>
            <a:pPr marL="0" indent="0">
              <a:lnSpc>
                <a:spcPct val="150000"/>
              </a:lnSpc>
              <a:buNone/>
            </a:pPr>
            <a:r>
              <a:rPr lang="en-IN" sz="2100" dirty="0">
                <a:latin typeface="Times New Roman" panose="02020603050405020304" pitchFamily="18" charset="0"/>
                <a:cs typeface="Times New Roman" panose="02020603050405020304" pitchFamily="18" charset="0"/>
              </a:rPr>
              <a:t>2</a:t>
            </a:r>
            <a:r>
              <a:rPr lang="en-IN" sz="2100" b="1" u="sng" dirty="0">
                <a:latin typeface="Times New Roman" panose="02020603050405020304" pitchFamily="18" charset="0"/>
                <a:cs typeface="Times New Roman" panose="02020603050405020304" pitchFamily="18" charset="0"/>
              </a:rPr>
              <a:t>. Decentralized Security </a:t>
            </a:r>
            <a:r>
              <a:rPr lang="en-IN" sz="2100" dirty="0">
                <a:latin typeface="Times New Roman" panose="02020603050405020304" pitchFamily="18" charset="0"/>
                <a:cs typeface="Times New Roman" panose="02020603050405020304" pitchFamily="18" charset="0"/>
              </a:rPr>
              <a:t>– No single point of failure; encrypted documents on IPFS.  </a:t>
            </a:r>
          </a:p>
          <a:p>
            <a:pPr marL="0" indent="0">
              <a:lnSpc>
                <a:spcPct val="150000"/>
              </a:lnSpc>
              <a:buNone/>
            </a:pPr>
            <a:r>
              <a:rPr lang="en-IN" sz="2100" dirty="0">
                <a:latin typeface="Times New Roman" panose="02020603050405020304" pitchFamily="18" charset="0"/>
                <a:cs typeface="Times New Roman" panose="02020603050405020304" pitchFamily="18" charset="0"/>
              </a:rPr>
              <a:t>3. </a:t>
            </a:r>
            <a:r>
              <a:rPr lang="en-IN" sz="2100" b="1" u="sng" dirty="0">
                <a:latin typeface="Times New Roman" panose="02020603050405020304" pitchFamily="18" charset="0"/>
                <a:cs typeface="Times New Roman" panose="02020603050405020304" pitchFamily="18" charset="0"/>
              </a:rPr>
              <a:t>Automated Access Control </a:t>
            </a:r>
            <a:r>
              <a:rPr lang="en-IN" sz="2100" dirty="0">
                <a:latin typeface="Times New Roman" panose="02020603050405020304" pitchFamily="18" charset="0"/>
                <a:cs typeface="Times New Roman" panose="02020603050405020304" pitchFamily="18" charset="0"/>
              </a:rPr>
              <a:t>– Smart contracts enforce permissions without intermediaries.  </a:t>
            </a:r>
          </a:p>
          <a:p>
            <a:pPr marL="0" indent="0">
              <a:lnSpc>
                <a:spcPct val="150000"/>
              </a:lnSpc>
              <a:buNone/>
            </a:pPr>
            <a:r>
              <a:rPr lang="en-IN" sz="2100" b="1" u="sng" dirty="0">
                <a:latin typeface="Times New Roman" panose="02020603050405020304" pitchFamily="18" charset="0"/>
                <a:cs typeface="Times New Roman" panose="02020603050405020304" pitchFamily="18" charset="0"/>
              </a:rPr>
              <a:t>Tested Reliability</a:t>
            </a:r>
            <a:r>
              <a:rPr lang="en-IN" sz="2100" dirty="0">
                <a:latin typeface="Times New Roman" panose="02020603050405020304" pitchFamily="18" charset="0"/>
                <a:cs typeface="Times New Roman" panose="02020603050405020304" pitchFamily="18" charset="0"/>
              </a:rPr>
              <a:t>: High success rates in contract execution (98%) and data integrity (100%).  </a:t>
            </a:r>
          </a:p>
          <a:p>
            <a:pPr marL="0" indent="0">
              <a:lnSpc>
                <a:spcPct val="150000"/>
              </a:lnSpc>
              <a:buNone/>
            </a:pPr>
            <a:r>
              <a:rPr lang="en-IN" sz="2100" b="1" dirty="0">
                <a:latin typeface="Times New Roman" panose="02020603050405020304" pitchFamily="18" charset="0"/>
                <a:cs typeface="Times New Roman" panose="02020603050405020304" pitchFamily="18" charset="0"/>
              </a:rPr>
              <a:t>Challenges Addressed:</a:t>
            </a:r>
          </a:p>
          <a:p>
            <a:pPr marL="0" indent="0">
              <a:lnSpc>
                <a:spcPct val="150000"/>
              </a:lnSpc>
              <a:buNone/>
            </a:pPr>
            <a:r>
              <a:rPr lang="en-IN" sz="2100" dirty="0">
                <a:latin typeface="Times New Roman" panose="02020603050405020304" pitchFamily="18" charset="0"/>
                <a:cs typeface="Times New Roman" panose="02020603050405020304" pitchFamily="18" charset="0"/>
              </a:rPr>
              <a:t>✔ Fixed smart contract vulnerabilities (e.g., reentrancy). </a:t>
            </a:r>
          </a:p>
          <a:p>
            <a:pPr marL="0" indent="0">
              <a:lnSpc>
                <a:spcPct val="150000"/>
              </a:lnSpc>
              <a:buNone/>
            </a:pPr>
            <a:r>
              <a:rPr lang="en-IN" sz="2100" dirty="0">
                <a:latin typeface="Times New Roman" panose="02020603050405020304" pitchFamily="18" charset="0"/>
                <a:cs typeface="Times New Roman" panose="02020603050405020304" pitchFamily="18" charset="0"/>
              </a:rPr>
              <a:t>✔ Optimized gas fees for Ethereum transactions.</a:t>
            </a:r>
          </a:p>
          <a:p>
            <a:pPr marL="0" indent="0">
              <a:lnSpc>
                <a:spcPct val="150000"/>
              </a:lnSpc>
              <a:buNone/>
            </a:pPr>
            <a:r>
              <a:rPr lang="en-IN" sz="2100" dirty="0">
                <a:latin typeface="Times New Roman" panose="02020603050405020304" pitchFamily="18" charset="0"/>
                <a:cs typeface="Times New Roman" panose="02020603050405020304" pitchFamily="18" charset="0"/>
              </a:rPr>
              <a:t>✔ Improved RPC timeout handling in frontend/backend.</a:t>
            </a:r>
            <a:endParaRPr lang="en-IN"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5387135-1B8F-4D91-F1F1-51EB61AAF366}"/>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B93EB7F1-E84F-E415-540E-EBF809911021}"/>
              </a:ext>
            </a:extLst>
          </p:cNvPr>
          <p:cNvPicPr>
            <a:picLocks noChangeAspect="1"/>
          </p:cNvPicPr>
          <p:nvPr/>
        </p:nvPicPr>
        <p:blipFill>
          <a:blip r:embed="rId2"/>
          <a:stretch>
            <a:fillRect/>
          </a:stretch>
        </p:blipFill>
        <p:spPr>
          <a:xfrm>
            <a:off x="0" y="-100325"/>
            <a:ext cx="9144000" cy="1414272"/>
          </a:xfrm>
          <a:prstGeom prst="rect">
            <a:avLst/>
          </a:prstGeom>
        </p:spPr>
      </p:pic>
    </p:spTree>
    <p:extLst>
      <p:ext uri="{BB962C8B-B14F-4D97-AF65-F5344CB8AC3E}">
        <p14:creationId xmlns:p14="http://schemas.microsoft.com/office/powerpoint/2010/main" val="3207522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5094-BD34-1356-BD4B-1A59180CC4BE}"/>
              </a:ext>
            </a:extLst>
          </p:cNvPr>
          <p:cNvSpPr>
            <a:spLocks noGrp="1"/>
          </p:cNvSpPr>
          <p:nvPr>
            <p:ph type="title"/>
          </p:nvPr>
        </p:nvSpPr>
        <p:spPr>
          <a:xfrm>
            <a:off x="1403648" y="1644459"/>
            <a:ext cx="5544616" cy="488397"/>
          </a:xfrm>
        </p:spPr>
        <p:txBody>
          <a:bodyPr>
            <a:noAutofit/>
          </a:bodyPr>
          <a:lstStyle/>
          <a:p>
            <a:r>
              <a:rPr lang="en-IN" b="1" dirty="0">
                <a:solidFill>
                  <a:schemeClr val="accent1"/>
                </a:solidFill>
                <a:latin typeface="Times New Roman" panose="02020603050405020304" pitchFamily="18" charset="0"/>
                <a:cs typeface="Times New Roman" panose="02020603050405020304" pitchFamily="18" charset="0"/>
              </a:rPr>
              <a:t>FUTURE SCOPE</a:t>
            </a:r>
          </a:p>
        </p:txBody>
      </p:sp>
      <p:sp>
        <p:nvSpPr>
          <p:cNvPr id="4" name="Footer Placeholder 3">
            <a:extLst>
              <a:ext uri="{FF2B5EF4-FFF2-40B4-BE49-F238E27FC236}">
                <a16:creationId xmlns:a16="http://schemas.microsoft.com/office/drawing/2014/main" id="{E2578DA4-5C26-2DA9-2524-872BF65336B1}"/>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29BD924B-54B3-6A91-2B4F-92AFD2378072}"/>
              </a:ext>
            </a:extLst>
          </p:cNvPr>
          <p:cNvPicPr>
            <a:picLocks noChangeAspect="1"/>
          </p:cNvPicPr>
          <p:nvPr/>
        </p:nvPicPr>
        <p:blipFill>
          <a:blip r:embed="rId2"/>
          <a:stretch>
            <a:fillRect/>
          </a:stretch>
        </p:blipFill>
        <p:spPr>
          <a:xfrm>
            <a:off x="0" y="0"/>
            <a:ext cx="9144000" cy="1414272"/>
          </a:xfrm>
          <a:prstGeom prst="rect">
            <a:avLst/>
          </a:prstGeom>
        </p:spPr>
      </p:pic>
      <p:graphicFrame>
        <p:nvGraphicFramePr>
          <p:cNvPr id="6" name="Table 5">
            <a:extLst>
              <a:ext uri="{FF2B5EF4-FFF2-40B4-BE49-F238E27FC236}">
                <a16:creationId xmlns:a16="http://schemas.microsoft.com/office/drawing/2014/main" id="{CF072D8B-9098-B1CB-DA97-5F239A6E4357}"/>
              </a:ext>
            </a:extLst>
          </p:cNvPr>
          <p:cNvGraphicFramePr>
            <a:graphicFrameLocks noGrp="1"/>
          </p:cNvGraphicFramePr>
          <p:nvPr>
            <p:extLst>
              <p:ext uri="{D42A27DB-BD31-4B8C-83A1-F6EECF244321}">
                <p14:modId xmlns:p14="http://schemas.microsoft.com/office/powerpoint/2010/main" val="98461830"/>
              </p:ext>
            </p:extLst>
          </p:nvPr>
        </p:nvGraphicFramePr>
        <p:xfrm>
          <a:off x="0" y="2363043"/>
          <a:ext cx="9144000" cy="4668267"/>
        </p:xfrm>
        <a:graphic>
          <a:graphicData uri="http://schemas.openxmlformats.org/drawingml/2006/table">
            <a:tbl>
              <a:tblPr firstRow="1" bandRow="1">
                <a:tableStyleId>{5C22544A-7EE6-4342-B048-85BDC9FD1C3A}</a:tableStyleId>
              </a:tblPr>
              <a:tblGrid>
                <a:gridCol w="2209799">
                  <a:extLst>
                    <a:ext uri="{9D8B030D-6E8A-4147-A177-3AD203B41FA5}">
                      <a16:colId xmlns:a16="http://schemas.microsoft.com/office/drawing/2014/main" val="3035797238"/>
                    </a:ext>
                  </a:extLst>
                </a:gridCol>
                <a:gridCol w="3505199">
                  <a:extLst>
                    <a:ext uri="{9D8B030D-6E8A-4147-A177-3AD203B41FA5}">
                      <a16:colId xmlns:a16="http://schemas.microsoft.com/office/drawing/2014/main" val="1406525721"/>
                    </a:ext>
                  </a:extLst>
                </a:gridCol>
                <a:gridCol w="3429002">
                  <a:extLst>
                    <a:ext uri="{9D8B030D-6E8A-4147-A177-3AD203B41FA5}">
                      <a16:colId xmlns:a16="http://schemas.microsoft.com/office/drawing/2014/main" val="311846847"/>
                    </a:ext>
                  </a:extLst>
                </a:gridCol>
              </a:tblGrid>
              <a:tr h="553467">
                <a:tc>
                  <a:txBody>
                    <a:bodyPr/>
                    <a:lstStyle/>
                    <a:p>
                      <a:r>
                        <a:rPr lang="en-IN" dirty="0"/>
                        <a:t>Area</a:t>
                      </a:r>
                    </a:p>
                  </a:txBody>
                  <a:tcPr/>
                </a:tc>
                <a:tc>
                  <a:txBody>
                    <a:bodyPr/>
                    <a:lstStyle/>
                    <a:p>
                      <a:r>
                        <a:rPr lang="en-IN" dirty="0"/>
                        <a:t>Improvement </a:t>
                      </a:r>
                    </a:p>
                  </a:txBody>
                  <a:tcPr/>
                </a:tc>
                <a:tc>
                  <a:txBody>
                    <a:bodyPr/>
                    <a:lstStyle/>
                    <a:p>
                      <a:r>
                        <a:rPr lang="en-IN" dirty="0"/>
                        <a:t>Impact </a:t>
                      </a:r>
                    </a:p>
                  </a:txBody>
                  <a:tcPr/>
                </a:tc>
                <a:extLst>
                  <a:ext uri="{0D108BD9-81ED-4DB2-BD59-A6C34878D82A}">
                    <a16:rowId xmlns:a16="http://schemas.microsoft.com/office/drawing/2014/main" val="164738591"/>
                  </a:ext>
                </a:extLst>
              </a:tr>
              <a:tr h="5534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Zero-knowledge proofs (ZKPs)</a:t>
                      </a:r>
                    </a:p>
                    <a:p>
                      <a:endParaRPr lang="en-IN" dirty="0"/>
                    </a:p>
                  </a:txBody>
                  <a:tcPr/>
                </a:tc>
                <a:tc>
                  <a:txBody>
                    <a:bodyPr/>
                    <a:lstStyle/>
                    <a:p>
                      <a:r>
                        <a:rPr lang="en-IN" dirty="0"/>
                        <a:t>Privacy-preserving KYC</a:t>
                      </a:r>
                    </a:p>
                  </a:txBody>
                  <a:tcPr/>
                </a:tc>
                <a:tc>
                  <a:txBody>
                    <a:bodyPr/>
                    <a:lstStyle/>
                    <a:p>
                      <a:r>
                        <a:rPr lang="en-IN" dirty="0"/>
                        <a:t>Eliminates unnecessary data exposure while maintaining compliance.</a:t>
                      </a:r>
                    </a:p>
                  </a:txBody>
                  <a:tcPr/>
                </a:tc>
                <a:extLst>
                  <a:ext uri="{0D108BD9-81ED-4DB2-BD59-A6C34878D82A}">
                    <a16:rowId xmlns:a16="http://schemas.microsoft.com/office/drawing/2014/main" val="2386805441"/>
                  </a:ext>
                </a:extLst>
              </a:tr>
              <a:tr h="553467">
                <a:tc>
                  <a:txBody>
                    <a:bodyPr/>
                    <a:lstStyle/>
                    <a:p>
                      <a:r>
                        <a:rPr lang="en-IN" dirty="0"/>
                        <a:t>Layer 2 solutions</a:t>
                      </a:r>
                    </a:p>
                  </a:txBody>
                  <a:tcPr/>
                </a:tc>
                <a:tc>
                  <a:txBody>
                    <a:bodyPr/>
                    <a:lstStyle/>
                    <a:p>
                      <a:r>
                        <a:rPr lang="en-IN" dirty="0"/>
                        <a:t>Deploy on polygon or arbitrum for faster/cheaper</a:t>
                      </a:r>
                    </a:p>
                  </a:txBody>
                  <a:tcPr/>
                </a:tc>
                <a:tc>
                  <a:txBody>
                    <a:bodyPr/>
                    <a:lstStyle/>
                    <a:p>
                      <a:r>
                        <a:rPr lang="en-IN" dirty="0"/>
                        <a:t>Scales beyond Ethereum’s </a:t>
                      </a:r>
                    </a:p>
                  </a:txBody>
                  <a:tcPr/>
                </a:tc>
                <a:extLst>
                  <a:ext uri="{0D108BD9-81ED-4DB2-BD59-A6C34878D82A}">
                    <a16:rowId xmlns:a16="http://schemas.microsoft.com/office/drawing/2014/main" val="2370824012"/>
                  </a:ext>
                </a:extLst>
              </a:tr>
              <a:tr h="553467">
                <a:tc>
                  <a:txBody>
                    <a:bodyPr/>
                    <a:lstStyle/>
                    <a:p>
                      <a:r>
                        <a:rPr lang="en-IN" dirty="0"/>
                        <a:t>Oracles </a:t>
                      </a:r>
                    </a:p>
                  </a:txBody>
                  <a:tcPr/>
                </a:tc>
                <a:tc>
                  <a:txBody>
                    <a:bodyPr/>
                    <a:lstStyle/>
                    <a:p>
                      <a:r>
                        <a:rPr lang="en-IN" dirty="0"/>
                        <a:t>Chain-link for real world KYC checks</a:t>
                      </a:r>
                    </a:p>
                  </a:txBody>
                  <a:tcPr/>
                </a:tc>
                <a:tc>
                  <a:txBody>
                    <a:bodyPr/>
                    <a:lstStyle/>
                    <a:p>
                      <a:r>
                        <a:rPr lang="en-IN" dirty="0"/>
                        <a:t>Bridges off-chain trust into block chain</a:t>
                      </a:r>
                    </a:p>
                  </a:txBody>
                  <a:tcPr/>
                </a:tc>
                <a:extLst>
                  <a:ext uri="{0D108BD9-81ED-4DB2-BD59-A6C34878D82A}">
                    <a16:rowId xmlns:a16="http://schemas.microsoft.com/office/drawing/2014/main" val="2591023201"/>
                  </a:ext>
                </a:extLst>
              </a:tr>
              <a:tr h="553467">
                <a:tc>
                  <a:txBody>
                    <a:bodyPr/>
                    <a:lstStyle/>
                    <a:p>
                      <a:r>
                        <a:rPr lang="en-IN" dirty="0"/>
                        <a:t>DAO governance </a:t>
                      </a:r>
                    </a:p>
                  </a:txBody>
                  <a:tcPr/>
                </a:tc>
                <a:tc>
                  <a:txBody>
                    <a:bodyPr/>
                    <a:lstStyle/>
                    <a:p>
                      <a:r>
                        <a:rPr lang="en-IN" dirty="0"/>
                        <a:t>Tokenized voting for identity validators</a:t>
                      </a:r>
                    </a:p>
                  </a:txBody>
                  <a:tcPr/>
                </a:tc>
                <a:tc>
                  <a:txBody>
                    <a:bodyPr/>
                    <a:lstStyle/>
                    <a:p>
                      <a:r>
                        <a:rPr lang="en-IN" dirty="0"/>
                        <a:t>Decentralizes trust further.</a:t>
                      </a:r>
                    </a:p>
                  </a:txBody>
                  <a:tcPr/>
                </a:tc>
                <a:extLst>
                  <a:ext uri="{0D108BD9-81ED-4DB2-BD59-A6C34878D82A}">
                    <a16:rowId xmlns:a16="http://schemas.microsoft.com/office/drawing/2014/main" val="1529081269"/>
                  </a:ext>
                </a:extLst>
              </a:tr>
              <a:tr h="553467">
                <a:tc>
                  <a:txBody>
                    <a:bodyPr/>
                    <a:lstStyle/>
                    <a:p>
                      <a:r>
                        <a:rPr lang="en-IN" dirty="0"/>
                        <a:t>Biometric integration </a:t>
                      </a:r>
                    </a:p>
                  </a:txBody>
                  <a:tcPr/>
                </a:tc>
                <a:tc>
                  <a:txBody>
                    <a:bodyPr/>
                    <a:lstStyle/>
                    <a:p>
                      <a:r>
                        <a:rPr lang="en-IN" dirty="0"/>
                        <a:t>Store hashed biometrics</a:t>
                      </a:r>
                    </a:p>
                  </a:txBody>
                  <a:tcPr/>
                </a:tc>
                <a:tc>
                  <a:txBody>
                    <a:bodyPr/>
                    <a:lstStyle/>
                    <a:p>
                      <a:r>
                        <a:rPr lang="en-IN" dirty="0"/>
                        <a:t>Enhances security against impersonation.</a:t>
                      </a:r>
                    </a:p>
                  </a:txBody>
                  <a:tcPr/>
                </a:tc>
                <a:extLst>
                  <a:ext uri="{0D108BD9-81ED-4DB2-BD59-A6C34878D82A}">
                    <a16:rowId xmlns:a16="http://schemas.microsoft.com/office/drawing/2014/main" val="3909772950"/>
                  </a:ext>
                </a:extLst>
              </a:tr>
              <a:tr h="553467">
                <a:tc>
                  <a:txBody>
                    <a:bodyPr/>
                    <a:lstStyle/>
                    <a:p>
                      <a:r>
                        <a:rPr lang="en-IN" dirty="0"/>
                        <a:t>Interoperability </a:t>
                      </a:r>
                    </a:p>
                  </a:txBody>
                  <a:tcPr/>
                </a:tc>
                <a:tc>
                  <a:txBody>
                    <a:bodyPr/>
                    <a:lstStyle/>
                    <a:p>
                      <a:r>
                        <a:rPr lang="en-IN" dirty="0"/>
                        <a:t>Cross-chain IDs</a:t>
                      </a:r>
                    </a:p>
                  </a:txBody>
                  <a:tcPr/>
                </a:tc>
                <a:tc>
                  <a:txBody>
                    <a:bodyPr/>
                    <a:lstStyle/>
                    <a:p>
                      <a:r>
                        <a:rPr lang="en-IN" dirty="0"/>
                        <a:t>Expands utility beyond Ethereum ecosystem.</a:t>
                      </a:r>
                    </a:p>
                  </a:txBody>
                  <a:tcPr/>
                </a:tc>
                <a:extLst>
                  <a:ext uri="{0D108BD9-81ED-4DB2-BD59-A6C34878D82A}">
                    <a16:rowId xmlns:a16="http://schemas.microsoft.com/office/drawing/2014/main" val="1862780391"/>
                  </a:ext>
                </a:extLst>
              </a:tr>
            </a:tbl>
          </a:graphicData>
        </a:graphic>
      </p:graphicFrame>
    </p:spTree>
    <p:extLst>
      <p:ext uri="{BB962C8B-B14F-4D97-AF65-F5344CB8AC3E}">
        <p14:creationId xmlns:p14="http://schemas.microsoft.com/office/powerpoint/2010/main" val="589734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7FEB1-8394-3342-F0EE-DA97B210B2E7}"/>
              </a:ext>
            </a:extLst>
          </p:cNvPr>
          <p:cNvSpPr>
            <a:spLocks noGrp="1"/>
          </p:cNvSpPr>
          <p:nvPr>
            <p:ph type="title"/>
          </p:nvPr>
        </p:nvSpPr>
        <p:spPr>
          <a:xfrm>
            <a:off x="755576" y="1414272"/>
            <a:ext cx="7416824" cy="1006616"/>
          </a:xfrm>
        </p:spPr>
        <p:txBody>
          <a:bodyPr>
            <a:normAutofit/>
          </a:bodyPr>
          <a:lstStyle/>
          <a:p>
            <a:r>
              <a:rPr lang="en-US" b="1" dirty="0">
                <a:solidFill>
                  <a:schemeClr val="accent1"/>
                </a:solidFill>
                <a:latin typeface="Times New Roman" pitchFamily="18" charset="0"/>
                <a:cs typeface="Times New Roman" pitchFamily="18" charset="0"/>
              </a:rPr>
              <a:t>Reference</a:t>
            </a:r>
            <a:endParaRPr lang="en-IN" dirty="0">
              <a:solidFill>
                <a:schemeClr val="accent1"/>
              </a:solidFill>
            </a:endParaRPr>
          </a:p>
        </p:txBody>
      </p:sp>
      <p:sp>
        <p:nvSpPr>
          <p:cNvPr id="3" name="Content Placeholder 2">
            <a:extLst>
              <a:ext uri="{FF2B5EF4-FFF2-40B4-BE49-F238E27FC236}">
                <a16:creationId xmlns:a16="http://schemas.microsoft.com/office/drawing/2014/main" id="{65A35C7E-1B9B-B231-EB67-84A71E70DD42}"/>
              </a:ext>
            </a:extLst>
          </p:cNvPr>
          <p:cNvSpPr>
            <a:spLocks noGrp="1"/>
          </p:cNvSpPr>
          <p:nvPr>
            <p:ph idx="1"/>
          </p:nvPr>
        </p:nvSpPr>
        <p:spPr>
          <a:xfrm>
            <a:off x="539552" y="2204864"/>
            <a:ext cx="8280920" cy="4151486"/>
          </a:xfrm>
        </p:spPr>
        <p:txBody>
          <a:bodyPr>
            <a:normAutofit fontScale="92500"/>
          </a:bodyPr>
          <a:lstStyle/>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J. P. Moyano and O. Ross, "KYC optimization using distributed ledger technology", Business &amp; Information Systems Engineering, vol. 59, no. 6, pp. 411-423, 2017.</a:t>
            </a:r>
          </a:p>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N. K. Ostern and J. Riedel, "Know-Your-Customer (KYC) Requirements for Initial Coin Offerings", Business &amp; Information Systems Engineering, pp. 1-17, 2020.</a:t>
            </a:r>
          </a:p>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 De Smet and A. L. Mention, "Improving auditor effectiveness in assessing KYC/AML practices: Case study in a Luxembourgish context", Managerial Auditing Journal, 2011.</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R. Syah, M. K. Nasution, M. Elveny and H. Arbie, "Optimization model for customer behavior with MARS and KYC system", Journal of Theoretical and Applied Information Technology, vol. 98, no. 13, 2020</a:t>
            </a:r>
          </a:p>
        </p:txBody>
      </p:sp>
      <p:sp>
        <p:nvSpPr>
          <p:cNvPr id="4" name="Footer Placeholder 3">
            <a:extLst>
              <a:ext uri="{FF2B5EF4-FFF2-40B4-BE49-F238E27FC236}">
                <a16:creationId xmlns:a16="http://schemas.microsoft.com/office/drawing/2014/main" id="{348ED0D2-79E2-B174-A78D-3D9345C2CE6E}"/>
              </a:ext>
            </a:extLst>
          </p:cNvPr>
          <p:cNvSpPr>
            <a:spLocks noGrp="1"/>
          </p:cNvSpPr>
          <p:nvPr>
            <p:ph type="ftr" sz="quarter" idx="11"/>
          </p:nvPr>
        </p:nvSpPr>
        <p:spPr/>
        <p:txBody>
          <a:bodyPr/>
          <a:lstStyle/>
          <a:p>
            <a:r>
              <a:rPr lang="en-US"/>
              <a:t>CSE(AI&amp;ML)-2024-25</a:t>
            </a:r>
          </a:p>
        </p:txBody>
      </p:sp>
      <p:pic>
        <p:nvPicPr>
          <p:cNvPr id="5" name="Picture 4">
            <a:extLst>
              <a:ext uri="{FF2B5EF4-FFF2-40B4-BE49-F238E27FC236}">
                <a16:creationId xmlns:a16="http://schemas.microsoft.com/office/drawing/2014/main" id="{4DD0A8DB-9048-0D3F-DB80-0DFECE8E0CF6}"/>
              </a:ext>
            </a:extLst>
          </p:cNvPr>
          <p:cNvPicPr>
            <a:picLocks noChangeAspect="1"/>
          </p:cNvPicPr>
          <p:nvPr/>
        </p:nvPicPr>
        <p:blipFill>
          <a:blip r:embed="rId2"/>
          <a:stretch>
            <a:fillRect/>
          </a:stretch>
        </p:blipFill>
        <p:spPr>
          <a:xfrm>
            <a:off x="8152" y="0"/>
            <a:ext cx="9144000" cy="1414272"/>
          </a:xfrm>
          <a:prstGeom prst="rect">
            <a:avLst/>
          </a:prstGeom>
        </p:spPr>
      </p:pic>
    </p:spTree>
    <p:extLst>
      <p:ext uri="{BB962C8B-B14F-4D97-AF65-F5344CB8AC3E}">
        <p14:creationId xmlns:p14="http://schemas.microsoft.com/office/powerpoint/2010/main" val="3306848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D4A5E6-7194-642F-F5A1-55114CEB76D9}"/>
              </a:ext>
            </a:extLst>
          </p:cNvPr>
          <p:cNvSpPr>
            <a:spLocks noGrp="1"/>
          </p:cNvSpPr>
          <p:nvPr>
            <p:ph idx="1"/>
          </p:nvPr>
        </p:nvSpPr>
        <p:spPr>
          <a:xfrm>
            <a:off x="1619672" y="2420888"/>
            <a:ext cx="7067128" cy="3705275"/>
          </a:xfrm>
        </p:spPr>
        <p:txBody>
          <a:bodyPr>
            <a:normAutofit/>
          </a:bodyPr>
          <a:lstStyle/>
          <a:p>
            <a:pPr marL="0" indent="0">
              <a:buNone/>
            </a:pPr>
            <a:r>
              <a:rPr lang="en-IN" sz="8800" b="1" dirty="0">
                <a:solidFill>
                  <a:schemeClr val="tx2">
                    <a:lumMod val="75000"/>
                  </a:schemeClr>
                </a:solidFill>
                <a:latin typeface="Times New Roman" panose="02020603050405020304" pitchFamily="18" charset="0"/>
                <a:cs typeface="Times New Roman" panose="02020603050405020304" pitchFamily="18" charset="0"/>
              </a:rPr>
              <a:t>Thank you</a:t>
            </a:r>
          </a:p>
        </p:txBody>
      </p:sp>
      <p:sp>
        <p:nvSpPr>
          <p:cNvPr id="4" name="Footer Placeholder 3">
            <a:extLst>
              <a:ext uri="{FF2B5EF4-FFF2-40B4-BE49-F238E27FC236}">
                <a16:creationId xmlns:a16="http://schemas.microsoft.com/office/drawing/2014/main" id="{538B4998-D8CE-1F55-E3E8-CE6575D6E202}"/>
              </a:ext>
            </a:extLst>
          </p:cNvPr>
          <p:cNvSpPr>
            <a:spLocks noGrp="1"/>
          </p:cNvSpPr>
          <p:nvPr>
            <p:ph type="ftr" sz="quarter" idx="11"/>
          </p:nvPr>
        </p:nvSpPr>
        <p:spPr/>
        <p:txBody>
          <a:bodyPr/>
          <a:lstStyle/>
          <a:p>
            <a:r>
              <a:rPr lang="en-US"/>
              <a:t>CSE(AI&amp;ML)-2024-25</a:t>
            </a:r>
          </a:p>
        </p:txBody>
      </p:sp>
    </p:spTree>
    <p:extLst>
      <p:ext uri="{BB962C8B-B14F-4D97-AF65-F5344CB8AC3E}">
        <p14:creationId xmlns:p14="http://schemas.microsoft.com/office/powerpoint/2010/main" val="4249376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1657</Words>
  <Application>Microsoft Office PowerPoint</Application>
  <PresentationFormat>On-screen Show (4:3)</PresentationFormat>
  <Paragraphs>246</Paragraphs>
  <Slides>23</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Secure sharing of Identity(KYC) </vt:lpstr>
      <vt:lpstr>Topics to be covered</vt:lpstr>
      <vt:lpstr>Abstract</vt:lpstr>
      <vt:lpstr>Introduction </vt:lpstr>
      <vt:lpstr>Problem statement </vt:lpstr>
      <vt:lpstr>Objectives </vt:lpstr>
      <vt:lpstr>Literature Survey </vt:lpstr>
      <vt:lpstr>Literature Survey </vt:lpstr>
      <vt:lpstr>System Analysis</vt:lpstr>
      <vt:lpstr>System Analysis</vt:lpstr>
      <vt:lpstr>System Design </vt:lpstr>
      <vt:lpstr> Architecture</vt:lpstr>
      <vt:lpstr> Technologies used </vt:lpstr>
      <vt:lpstr>Implementation</vt:lpstr>
      <vt:lpstr>PowerPoint Presentation</vt:lpstr>
      <vt:lpstr>PowerPoint Presentation</vt:lpstr>
      <vt:lpstr>PowerPoint Presentation</vt:lpstr>
      <vt:lpstr>Testing</vt:lpstr>
      <vt:lpstr>RESULTS</vt:lpstr>
      <vt:lpstr>Conclusion </vt:lpstr>
      <vt:lpstr>FUTURE SCOPE</vt:lpstr>
      <vt:lpstr>Reference</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mucharla prashanth</cp:lastModifiedBy>
  <cp:revision>13</cp:revision>
  <dcterms:created xsi:type="dcterms:W3CDTF">2025-06-02T05:26:35Z</dcterms:created>
  <dcterms:modified xsi:type="dcterms:W3CDTF">2025-06-11T04:00:18Z</dcterms:modified>
</cp:coreProperties>
</file>